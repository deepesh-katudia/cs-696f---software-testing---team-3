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61" r:id="rId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43"/>
  </p:normalViewPr>
  <p:slideViewPr>
    <p:cSldViewPr>
      <p:cViewPr varScale="1">
        <p:scale>
          <a:sx n="109" d="100"/>
          <a:sy n="109" d="100"/>
        </p:scale>
        <p:origin x="44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tick figure with a white background&#10;&#10;AI-generated content may be incorrect.">
            <a:extLst>
              <a:ext uri="{FF2B5EF4-FFF2-40B4-BE49-F238E27FC236}">
                <a16:creationId xmlns:a16="http://schemas.microsoft.com/office/drawing/2014/main" id="{7557A122-3813-4234-460A-F9D51EFB4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990600"/>
            <a:ext cx="990600" cy="973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EBC3CD-1639-35C0-4FB2-4FBB83A11C93}"/>
              </a:ext>
            </a:extLst>
          </p:cNvPr>
          <p:cNvSpPr txBox="1"/>
          <p:nvPr/>
        </p:nvSpPr>
        <p:spPr>
          <a:xfrm>
            <a:off x="419100" y="1976479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Standard      user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EDFD21-6448-BA97-CC18-AA206B07B93C}"/>
              </a:ext>
            </a:extLst>
          </p:cNvPr>
          <p:cNvSpPr/>
          <p:nvPr/>
        </p:nvSpPr>
        <p:spPr>
          <a:xfrm>
            <a:off x="2819400" y="3810000"/>
            <a:ext cx="12954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XERO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351259-10AF-A768-0960-5B71C6122141}"/>
              </a:ext>
            </a:extLst>
          </p:cNvPr>
          <p:cNvCxnSpPr>
            <a:cxnSpLocks/>
          </p:cNvCxnSpPr>
          <p:nvPr/>
        </p:nvCxnSpPr>
        <p:spPr>
          <a:xfrm>
            <a:off x="1396592" y="2359561"/>
            <a:ext cx="1333500" cy="1541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A029DB-4869-8F38-5F42-FCEFEB16AA34}"/>
              </a:ext>
            </a:extLst>
          </p:cNvPr>
          <p:cNvSpPr txBox="1"/>
          <p:nvPr/>
        </p:nvSpPr>
        <p:spPr>
          <a:xfrm rot="2977281">
            <a:off x="1638300" y="2744681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Invoices, bills, ands Expenses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EBF7E7-9365-09B9-97D7-A8F8D62C5DA0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1219200" y="2362200"/>
            <a:ext cx="1600200" cy="175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A730A5-8BC6-6F32-23F2-B95016A75134}"/>
              </a:ext>
            </a:extLst>
          </p:cNvPr>
          <p:cNvSpPr txBox="1"/>
          <p:nvPr/>
        </p:nvSpPr>
        <p:spPr>
          <a:xfrm rot="3053582">
            <a:off x="979993" y="3259626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Financial Reports, Bank Reconciliation Data</a:t>
            </a:r>
          </a:p>
        </p:txBody>
      </p:sp>
      <p:pic>
        <p:nvPicPr>
          <p:cNvPr id="12" name="Picture 11" descr="A black stick figure with a white background&#10;&#10;AI-generated content may be incorrect.">
            <a:extLst>
              <a:ext uri="{FF2B5EF4-FFF2-40B4-BE49-F238E27FC236}">
                <a16:creationId xmlns:a16="http://schemas.microsoft.com/office/drawing/2014/main" id="{98BCDA71-CCC9-60D6-88A2-723D9875D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47" y="5257800"/>
            <a:ext cx="990600" cy="973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A02AC0-3FF0-003B-EF31-12B62433C1D5}"/>
              </a:ext>
            </a:extLst>
          </p:cNvPr>
          <p:cNvSpPr txBox="1"/>
          <p:nvPr/>
        </p:nvSpPr>
        <p:spPr>
          <a:xfrm>
            <a:off x="473104" y="6304852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Adviser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68E69F-C0D0-AFCB-D348-8044B3FF3593}"/>
              </a:ext>
            </a:extLst>
          </p:cNvPr>
          <p:cNvCxnSpPr/>
          <p:nvPr/>
        </p:nvCxnSpPr>
        <p:spPr>
          <a:xfrm flipV="1">
            <a:off x="1485900" y="4407489"/>
            <a:ext cx="1333500" cy="850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6E40B5-0371-FD4F-2BA8-C860F3B756F5}"/>
              </a:ext>
            </a:extLst>
          </p:cNvPr>
          <p:cNvCxnSpPr/>
          <p:nvPr/>
        </p:nvCxnSpPr>
        <p:spPr>
          <a:xfrm flipH="1">
            <a:off x="1519947" y="4419600"/>
            <a:ext cx="1528053" cy="99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30FC49A-DC6B-6F00-B1D6-F6B8B275A9BD}"/>
              </a:ext>
            </a:extLst>
          </p:cNvPr>
          <p:cNvSpPr txBox="1"/>
          <p:nvPr/>
        </p:nvSpPr>
        <p:spPr>
          <a:xfrm rot="19657645">
            <a:off x="1047437" y="4317669"/>
            <a:ext cx="169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 Configurations, Integrations, Training &amp; Support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9598EF-A978-3E72-926C-6E6A3AB2B705}"/>
              </a:ext>
            </a:extLst>
          </p:cNvPr>
          <p:cNvSpPr txBox="1"/>
          <p:nvPr/>
        </p:nvSpPr>
        <p:spPr>
          <a:xfrm rot="19450673">
            <a:off x="1657035" y="4866545"/>
            <a:ext cx="1646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Financial &amp; Performance Reports</a:t>
            </a:r>
          </a:p>
        </p:txBody>
      </p:sp>
      <p:sp>
        <p:nvSpPr>
          <p:cNvPr id="21" name="Round Diagonal Corner Rectangle 20">
            <a:extLst>
              <a:ext uri="{FF2B5EF4-FFF2-40B4-BE49-F238E27FC236}">
                <a16:creationId xmlns:a16="http://schemas.microsoft.com/office/drawing/2014/main" id="{46802907-8DB1-0B94-40F9-F9E087349A84}"/>
              </a:ext>
            </a:extLst>
          </p:cNvPr>
          <p:cNvSpPr/>
          <p:nvPr/>
        </p:nvSpPr>
        <p:spPr>
          <a:xfrm>
            <a:off x="2881447" y="990600"/>
            <a:ext cx="1233353" cy="685800"/>
          </a:xfrm>
          <a:prstGeom prst="round2Diag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Dext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7E48A9-009C-D4F3-B623-91503DAC7750}"/>
              </a:ext>
            </a:extLst>
          </p:cNvPr>
          <p:cNvSpPr txBox="1"/>
          <p:nvPr/>
        </p:nvSpPr>
        <p:spPr>
          <a:xfrm rot="5400000">
            <a:off x="2880528" y="2665438"/>
            <a:ext cx="1602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Receipts / Expenses</a:t>
            </a:r>
          </a:p>
        </p:txBody>
      </p:sp>
      <p:sp>
        <p:nvSpPr>
          <p:cNvPr id="29" name="Round Diagonal Corner Rectangle 28">
            <a:extLst>
              <a:ext uri="{FF2B5EF4-FFF2-40B4-BE49-F238E27FC236}">
                <a16:creationId xmlns:a16="http://schemas.microsoft.com/office/drawing/2014/main" id="{FFE2E7A8-7C37-7E1C-E371-34E4ED148B91}"/>
              </a:ext>
            </a:extLst>
          </p:cNvPr>
          <p:cNvSpPr/>
          <p:nvPr/>
        </p:nvSpPr>
        <p:spPr>
          <a:xfrm>
            <a:off x="5591009" y="1367552"/>
            <a:ext cx="1233353" cy="685800"/>
          </a:xfrm>
          <a:prstGeom prst="round2Diag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Cin7 Core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311CFD-27E4-B7CD-3AD0-EE2BA66710F8}"/>
              </a:ext>
            </a:extLst>
          </p:cNvPr>
          <p:cNvSpPr txBox="1"/>
          <p:nvPr/>
        </p:nvSpPr>
        <p:spPr>
          <a:xfrm rot="18429899">
            <a:off x="3961066" y="2484896"/>
            <a:ext cx="1661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Bills/GRN Sync Status</a:t>
            </a:r>
          </a:p>
        </p:txBody>
      </p:sp>
      <p:sp>
        <p:nvSpPr>
          <p:cNvPr id="34" name="Round Diagonal Corner Rectangle 33">
            <a:extLst>
              <a:ext uri="{FF2B5EF4-FFF2-40B4-BE49-F238E27FC236}">
                <a16:creationId xmlns:a16="http://schemas.microsoft.com/office/drawing/2014/main" id="{E1B28238-1838-05E2-A58C-F1C733F0BFF9}"/>
              </a:ext>
            </a:extLst>
          </p:cNvPr>
          <p:cNvSpPr/>
          <p:nvPr/>
        </p:nvSpPr>
        <p:spPr>
          <a:xfrm>
            <a:off x="6229734" y="3860719"/>
            <a:ext cx="1233353" cy="685800"/>
          </a:xfrm>
          <a:prstGeom prst="round2Diag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A2X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D0D15F-878D-7D74-00AF-1A267986BAD6}"/>
              </a:ext>
            </a:extLst>
          </p:cNvPr>
          <p:cNvSpPr txBox="1"/>
          <p:nvPr/>
        </p:nvSpPr>
        <p:spPr>
          <a:xfrm>
            <a:off x="4390729" y="3771389"/>
            <a:ext cx="1883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Sales/Fees/Taxes (settlement)</a:t>
            </a:r>
          </a:p>
        </p:txBody>
      </p:sp>
      <p:sp>
        <p:nvSpPr>
          <p:cNvPr id="39" name="Round Diagonal Corner Rectangle 38">
            <a:extLst>
              <a:ext uri="{FF2B5EF4-FFF2-40B4-BE49-F238E27FC236}">
                <a16:creationId xmlns:a16="http://schemas.microsoft.com/office/drawing/2014/main" id="{B1EAF206-5DE8-0807-B2C8-E11BFA0C0B3C}"/>
              </a:ext>
            </a:extLst>
          </p:cNvPr>
          <p:cNvSpPr/>
          <p:nvPr/>
        </p:nvSpPr>
        <p:spPr>
          <a:xfrm>
            <a:off x="5121549" y="6348076"/>
            <a:ext cx="1233353" cy="685800"/>
          </a:xfrm>
          <a:prstGeom prst="round2Diag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G-</a:t>
            </a:r>
            <a:r>
              <a:rPr lang="en-US" dirty="0" err="1"/>
              <a:t>Accon</a:t>
            </a:r>
            <a:endParaRPr lang="en-US" dirty="0"/>
          </a:p>
        </p:txBody>
      </p:sp>
      <p:sp>
        <p:nvSpPr>
          <p:cNvPr id="40" name="Round Diagonal Corner Rectangle 39">
            <a:extLst>
              <a:ext uri="{FF2B5EF4-FFF2-40B4-BE49-F238E27FC236}">
                <a16:creationId xmlns:a16="http://schemas.microsoft.com/office/drawing/2014/main" id="{E25920A2-54B3-A8D1-E703-45074E56BF79}"/>
              </a:ext>
            </a:extLst>
          </p:cNvPr>
          <p:cNvSpPr/>
          <p:nvPr/>
        </p:nvSpPr>
        <p:spPr>
          <a:xfrm>
            <a:off x="2431323" y="6701764"/>
            <a:ext cx="1233353" cy="685800"/>
          </a:xfrm>
          <a:prstGeom prst="round2Diag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Stripe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A2CA8C-A459-341B-FE06-3FEEC289CC56}"/>
              </a:ext>
            </a:extLst>
          </p:cNvPr>
          <p:cNvSpPr txBox="1"/>
          <p:nvPr/>
        </p:nvSpPr>
        <p:spPr>
          <a:xfrm rot="3051010">
            <a:off x="4248319" y="5352042"/>
            <a:ext cx="1839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Read/Export Reports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46EFC3-E31A-873D-5318-DD87E96F5E63}"/>
              </a:ext>
            </a:extLst>
          </p:cNvPr>
          <p:cNvCxnSpPr>
            <a:stCxn id="5" idx="2"/>
          </p:cNvCxnSpPr>
          <p:nvPr/>
        </p:nvCxnSpPr>
        <p:spPr>
          <a:xfrm flipH="1">
            <a:off x="2881447" y="4419600"/>
            <a:ext cx="585653" cy="2282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76EBFAD-796D-6E17-2E4C-C19EEA5928D0}"/>
              </a:ext>
            </a:extLst>
          </p:cNvPr>
          <p:cNvCxnSpPr>
            <a:stCxn id="40" idx="3"/>
          </p:cNvCxnSpPr>
          <p:nvPr/>
        </p:nvCxnSpPr>
        <p:spPr>
          <a:xfrm flipV="1">
            <a:off x="3048000" y="4428265"/>
            <a:ext cx="481147" cy="2273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DB63A12-6BD9-71D3-9844-BBDC3D65A318}"/>
              </a:ext>
            </a:extLst>
          </p:cNvPr>
          <p:cNvSpPr txBox="1"/>
          <p:nvPr/>
        </p:nvSpPr>
        <p:spPr>
          <a:xfrm rot="6032827">
            <a:off x="2742349" y="5443325"/>
            <a:ext cx="1695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Payment Notifications/Bank Feeds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2FA221-48D3-1D50-ADCF-70C555E9B9D3}"/>
              </a:ext>
            </a:extLst>
          </p:cNvPr>
          <p:cNvSpPr txBox="1"/>
          <p:nvPr/>
        </p:nvSpPr>
        <p:spPr>
          <a:xfrm rot="17249725">
            <a:off x="2153952" y="5428895"/>
            <a:ext cx="13989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Payment Instructions (batches)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8F695A-DD6D-D3AE-66BE-918D23DF627A}"/>
              </a:ext>
            </a:extLst>
          </p:cNvPr>
          <p:cNvSpPr txBox="1"/>
          <p:nvPr/>
        </p:nvSpPr>
        <p:spPr>
          <a:xfrm>
            <a:off x="1482784" y="103600"/>
            <a:ext cx="5135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lang="en-US" sz="2400" b="1" spc="-10" dirty="0">
                <a:solidFill>
                  <a:srgbClr val="4F81BD"/>
                </a:solidFill>
                <a:latin typeface="Calibri"/>
                <a:cs typeface="Calibri"/>
              </a:rPr>
              <a:t>XERO Application Context</a:t>
            </a:r>
            <a:r>
              <a:rPr lang="en-US" sz="2400" b="1" spc="-3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b="1" spc="-10" dirty="0">
                <a:solidFill>
                  <a:srgbClr val="4F81BD"/>
                </a:solidFill>
                <a:latin typeface="Calibri"/>
                <a:cs typeface="Calibri"/>
              </a:rPr>
              <a:t>Diagram</a:t>
            </a:r>
            <a:endParaRPr lang="en-US" sz="2400" dirty="0">
              <a:latin typeface="Calibri"/>
              <a:cs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8DF063-BE70-BF31-DAC5-22A42CEB78E1}"/>
              </a:ext>
            </a:extLst>
          </p:cNvPr>
          <p:cNvCxnSpPr>
            <a:cxnSpLocks/>
            <a:stCxn id="21" idx="1"/>
          </p:cNvCxnSpPr>
          <p:nvPr/>
        </p:nvCxnSpPr>
        <p:spPr>
          <a:xfrm>
            <a:off x="3498124" y="1676400"/>
            <a:ext cx="31023" cy="213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CCD09C-78B3-4CC4-2CA9-D9CF21144A90}"/>
              </a:ext>
            </a:extLst>
          </p:cNvPr>
          <p:cNvCxnSpPr>
            <a:cxnSpLocks/>
          </p:cNvCxnSpPr>
          <p:nvPr/>
        </p:nvCxnSpPr>
        <p:spPr>
          <a:xfrm flipH="1" flipV="1">
            <a:off x="3335639" y="1688511"/>
            <a:ext cx="5513" cy="212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AF2067D-0571-6B33-82A0-F92D8FC9FF74}"/>
              </a:ext>
            </a:extLst>
          </p:cNvPr>
          <p:cNvSpPr txBox="1"/>
          <p:nvPr/>
        </p:nvSpPr>
        <p:spPr>
          <a:xfrm rot="16200000">
            <a:off x="2028797" y="2274866"/>
            <a:ext cx="23388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Import Status/Errors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AE27471-3160-098C-B210-0F0C902F7BCD}"/>
              </a:ext>
            </a:extLst>
          </p:cNvPr>
          <p:cNvCxnSpPr>
            <a:cxnSpLocks/>
          </p:cNvCxnSpPr>
          <p:nvPr/>
        </p:nvCxnSpPr>
        <p:spPr>
          <a:xfrm flipH="1">
            <a:off x="4114800" y="2053352"/>
            <a:ext cx="1476209" cy="1923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044A4DA-588A-2BF9-6E2C-9677C58CA52D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114800" y="2053352"/>
            <a:ext cx="1631967" cy="206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FC11787-ADC8-D8AA-D10F-DFEBD56C00A9}"/>
              </a:ext>
            </a:extLst>
          </p:cNvPr>
          <p:cNvSpPr txBox="1"/>
          <p:nvPr/>
        </p:nvSpPr>
        <p:spPr>
          <a:xfrm rot="18429899">
            <a:off x="4300863" y="2914733"/>
            <a:ext cx="1661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Items/Stock/PO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5DB9C4A-421D-0A5A-2B86-6D2C9921EA46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4106054" y="4203619"/>
            <a:ext cx="212368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F5E0AF3-1494-CEB8-0A1D-8EDA1A9D62E4}"/>
              </a:ext>
            </a:extLst>
          </p:cNvPr>
          <p:cNvCxnSpPr>
            <a:cxnSpLocks/>
          </p:cNvCxnSpPr>
          <p:nvPr/>
        </p:nvCxnSpPr>
        <p:spPr>
          <a:xfrm flipV="1">
            <a:off x="4114800" y="4341500"/>
            <a:ext cx="2137653" cy="23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41E6E4F-F6C5-FB24-3426-46ADD15F08CE}"/>
              </a:ext>
            </a:extLst>
          </p:cNvPr>
          <p:cNvSpPr txBox="1"/>
          <p:nvPr/>
        </p:nvSpPr>
        <p:spPr>
          <a:xfrm>
            <a:off x="4243650" y="4356009"/>
            <a:ext cx="1883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Post Status/Validation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4AD3747-B4FB-2351-494B-3E99DC5FA64D}"/>
              </a:ext>
            </a:extLst>
          </p:cNvPr>
          <p:cNvCxnSpPr>
            <a:cxnSpLocks/>
            <a:stCxn id="39" idx="3"/>
          </p:cNvCxnSpPr>
          <p:nvPr/>
        </p:nvCxnSpPr>
        <p:spPr>
          <a:xfrm flipH="1" flipV="1">
            <a:off x="4062820" y="4428265"/>
            <a:ext cx="1675406" cy="1919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B046F3B-81B5-A9D5-DBFD-07F1A444DD0C}"/>
              </a:ext>
            </a:extLst>
          </p:cNvPr>
          <p:cNvCxnSpPr>
            <a:cxnSpLocks/>
          </p:cNvCxnSpPr>
          <p:nvPr/>
        </p:nvCxnSpPr>
        <p:spPr>
          <a:xfrm>
            <a:off x="3962400" y="4428265"/>
            <a:ext cx="1626964" cy="1938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D33B328-7A14-94A3-BEFB-1A2702949575}"/>
              </a:ext>
            </a:extLst>
          </p:cNvPr>
          <p:cNvSpPr txBox="1"/>
          <p:nvPr/>
        </p:nvSpPr>
        <p:spPr>
          <a:xfrm rot="13701654">
            <a:off x="3843771" y="5470130"/>
            <a:ext cx="1839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Adjustments/Edits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64DC69E-B088-19A2-1359-8ED6545E1BDA}"/>
              </a:ext>
            </a:extLst>
          </p:cNvPr>
          <p:cNvSpPr/>
          <p:nvPr/>
        </p:nvSpPr>
        <p:spPr>
          <a:xfrm>
            <a:off x="1995805" y="3225928"/>
            <a:ext cx="277000" cy="27546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8EC29AF-9577-3478-4905-B1D22DF88C31}"/>
              </a:ext>
            </a:extLst>
          </p:cNvPr>
          <p:cNvSpPr/>
          <p:nvPr/>
        </p:nvSpPr>
        <p:spPr>
          <a:xfrm>
            <a:off x="2054564" y="4763074"/>
            <a:ext cx="277000" cy="27546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B1E00C2-520B-3FDC-73D7-8DC211B5049E}"/>
              </a:ext>
            </a:extLst>
          </p:cNvPr>
          <p:cNvSpPr/>
          <p:nvPr/>
        </p:nvSpPr>
        <p:spPr>
          <a:xfrm>
            <a:off x="3301193" y="2739668"/>
            <a:ext cx="277000" cy="27546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86EF279-C314-FF1C-B6A8-07B0A0657E14}"/>
              </a:ext>
            </a:extLst>
          </p:cNvPr>
          <p:cNvSpPr/>
          <p:nvPr/>
        </p:nvSpPr>
        <p:spPr>
          <a:xfrm>
            <a:off x="4782188" y="2828700"/>
            <a:ext cx="277000" cy="27546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377DFD7-20B2-9D89-271E-16DACA8D3A04}"/>
              </a:ext>
            </a:extLst>
          </p:cNvPr>
          <p:cNvSpPr/>
          <p:nvPr/>
        </p:nvSpPr>
        <p:spPr>
          <a:xfrm>
            <a:off x="5332381" y="4129309"/>
            <a:ext cx="277000" cy="27546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424775C-D8A6-183D-FF64-007CEE3CC68C}"/>
              </a:ext>
            </a:extLst>
          </p:cNvPr>
          <p:cNvSpPr/>
          <p:nvPr/>
        </p:nvSpPr>
        <p:spPr>
          <a:xfrm>
            <a:off x="4251522" y="4753733"/>
            <a:ext cx="277000" cy="27546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5A2F119-A601-967B-9B98-94902C393A97}"/>
              </a:ext>
            </a:extLst>
          </p:cNvPr>
          <p:cNvSpPr/>
          <p:nvPr/>
        </p:nvSpPr>
        <p:spPr>
          <a:xfrm>
            <a:off x="3115429" y="5392976"/>
            <a:ext cx="277000" cy="27546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94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D47519-2140-2243-D809-F3BE6F5B3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917858"/>
              </p:ext>
            </p:extLst>
          </p:nvPr>
        </p:nvGraphicFramePr>
        <p:xfrm>
          <a:off x="152400" y="914400"/>
          <a:ext cx="7467600" cy="6620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306">
                  <a:extLst>
                    <a:ext uri="{9D8B030D-6E8A-4147-A177-3AD203B41FA5}">
                      <a16:colId xmlns:a16="http://schemas.microsoft.com/office/drawing/2014/main" val="1465556489"/>
                    </a:ext>
                  </a:extLst>
                </a:gridCol>
                <a:gridCol w="1387259">
                  <a:extLst>
                    <a:ext uri="{9D8B030D-6E8A-4147-A177-3AD203B41FA5}">
                      <a16:colId xmlns:a16="http://schemas.microsoft.com/office/drawing/2014/main" val="904370749"/>
                    </a:ext>
                  </a:extLst>
                </a:gridCol>
                <a:gridCol w="900835">
                  <a:extLst>
                    <a:ext uri="{9D8B030D-6E8A-4147-A177-3AD203B41FA5}">
                      <a16:colId xmlns:a16="http://schemas.microsoft.com/office/drawing/2014/main" val="352613915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976004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728755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696845148"/>
                    </a:ext>
                  </a:extLst>
                </a:gridCol>
              </a:tblGrid>
              <a:tr h="7687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704834"/>
                  </a:ext>
                </a:extLst>
              </a:tr>
              <a:tr h="7687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Standard User operations – enter invoices, bills, expenses; view financial/bank-rec reports.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pc="-10" dirty="0">
                          <a:latin typeface="+mn-lt"/>
                          <a:cs typeface="Cambria"/>
                        </a:rPr>
                        <a:t>Standard </a:t>
                      </a:r>
                      <a:r>
                        <a:rPr lang="en-US" sz="1200" dirty="0">
                          <a:latin typeface="+mn-lt"/>
                          <a:cs typeface="Cambria"/>
                        </a:rPr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/>
                        <a:t>Xero (data entry)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/>
                        <a:t>Xero → User (reports)</a:t>
                      </a:r>
                      <a:endParaRPr lang="en-US" sz="1200" dirty="0">
                        <a:latin typeface="+mn-lt"/>
                        <a:cs typeface="Cambria"/>
                      </a:endParaRPr>
                    </a:p>
                    <a:p>
                      <a:pPr algn="ctr"/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pc="-10" dirty="0">
                          <a:latin typeface="+mn-lt"/>
                          <a:cs typeface="Cambria"/>
                        </a:rPr>
                        <a:t>On-</a:t>
                      </a:r>
                      <a:r>
                        <a:rPr lang="en-US" sz="1200" dirty="0">
                          <a:latin typeface="+mn-lt"/>
                          <a:cs typeface="Cambria"/>
                        </a:rPr>
                        <a:t>demand </a:t>
                      </a:r>
                      <a:r>
                        <a:rPr lang="en-US" sz="1200" spc="-50" dirty="0">
                          <a:latin typeface="+mn-lt"/>
                          <a:cs typeface="Cambria"/>
                        </a:rPr>
                        <a:t>/</a:t>
                      </a:r>
                      <a:r>
                        <a:rPr lang="en-US" sz="1200" spc="-20" dirty="0">
                          <a:latin typeface="+mn-lt"/>
                          <a:cs typeface="Cambria"/>
                        </a:rPr>
                        <a:t> Real-time</a:t>
                      </a:r>
                      <a:endParaRPr lang="en-US" sz="1200" dirty="0">
                        <a:latin typeface="+mn-lt"/>
                        <a:cs typeface="Cambr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3975" marR="527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200" dirty="0"/>
                        <a:t>Required fields; valid dates; ISO-4217 currency; tax rate present; duplicate invoice/bill # check; attachment type (PDF/JPG/PNG) and max size; role/permission checks.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68060"/>
                  </a:ext>
                </a:extLst>
              </a:tr>
              <a:tr h="7687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Adviser configuration &amp; reviews – manage configurations/integrations; view performance reports.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pc="-20" dirty="0">
                          <a:latin typeface="+mn-lt"/>
                          <a:cs typeface="Cambria"/>
                        </a:rPr>
                        <a:t>Adviser</a:t>
                      </a:r>
                      <a:endParaRPr lang="en-US" sz="1200" dirty="0">
                        <a:latin typeface="+mn-lt"/>
                        <a:cs typeface="Cambr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Xero (configs)  Xero → Adviser (reports)</a:t>
                      </a:r>
                      <a:endParaRPr lang="en-US" sz="1200" dirty="0">
                        <a:latin typeface="+mn-lt"/>
                        <a:cs typeface="Cambr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Ad-hoc for configs; on-demand for reports</a:t>
                      </a:r>
                      <a:endParaRPr lang="en-US" sz="1200" dirty="0">
                        <a:latin typeface="+mn-lt"/>
                        <a:cs typeface="Cambr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RBAC (Adviser roles only); audit trail for changes; idempotent config updates; MFA for sensitive actions; allowed value lists (accounts, tax codes).</a:t>
                      </a:r>
                      <a:endParaRPr lang="en-US" sz="1200" dirty="0">
                        <a:latin typeface="+mn-lt"/>
                        <a:cs typeface="Cambr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615520"/>
                  </a:ext>
                </a:extLst>
              </a:tr>
              <a:tr h="7687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/>
                        <a:t>Dext</a:t>
                      </a:r>
                      <a:r>
                        <a:rPr lang="en-US" sz="1200" b="0" dirty="0"/>
                        <a:t> (Bills &amp; Expenses OCR) – receipts/expenses in; import status/errors out.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DEXT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 Xero → </a:t>
                      </a:r>
                      <a:r>
                        <a:rPr lang="en-IN" sz="1200" dirty="0" err="1"/>
                        <a:t>Dext</a:t>
                      </a:r>
                      <a:endParaRPr lang="en-US" sz="1200" dirty="0">
                        <a:latin typeface="+mn-lt"/>
                        <a:cs typeface="Cambr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  <a:cs typeface="Cambria"/>
                        </a:rPr>
                        <a:t>Scheduled sync (hourly/daily) + manual push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Vendor mapping present; receipt total = sum(line items)+tax; supported tax codes; currency match; duplicate receipt detection (hash/</a:t>
                      </a:r>
                      <a:r>
                        <a:rPr lang="en-IN" sz="1200" dirty="0" err="1"/>
                        <a:t>date+amount+vendor</a:t>
                      </a:r>
                      <a:r>
                        <a:rPr lang="en-IN" sz="1200" dirty="0"/>
                        <a:t>); file format validity.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907746"/>
                  </a:ext>
                </a:extLst>
              </a:tr>
              <a:tr h="7687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Cin7 Core (Inventory/PO) – items/stock/PO in; bills/GRN sync status out.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pc="-20" dirty="0">
                          <a:latin typeface="+mn-lt"/>
                          <a:cs typeface="Cambria"/>
                        </a:rPr>
                        <a:t>Xero </a:t>
                      </a:r>
                      <a:r>
                        <a:rPr lang="en-US" sz="1200" spc="-10" dirty="0">
                          <a:latin typeface="+mn-lt"/>
                          <a:cs typeface="Cambria"/>
                        </a:rPr>
                        <a:t>Application</a:t>
                      </a:r>
                      <a:endParaRPr lang="en-US" sz="1200" dirty="0">
                        <a:latin typeface="+mn-lt"/>
                        <a:cs typeface="Cambr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Xero → Cin7</a:t>
                      </a:r>
                      <a:endParaRPr lang="en-US" sz="1200" dirty="0">
                        <a:latin typeface="+mn-lt"/>
                        <a:cs typeface="Cambr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260"/>
                        </a:lnSpc>
                        <a:spcBef>
                          <a:spcPts val="280"/>
                        </a:spcBef>
                      </a:pPr>
                      <a:r>
                        <a:rPr lang="en-US" sz="1200" dirty="0">
                          <a:latin typeface="+mn-lt"/>
                          <a:cs typeface="Cambria"/>
                        </a:rPr>
                        <a:t>15 – 60 min sync: nightly bulk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SKU exists; UOM consistency; positive qty/price; 2-/3-way match tolerances (qty/price/receipt); currency consistency; referential integrity on vendor/PO IDs.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16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D9CB940-A349-8C8A-4738-AEC28EDA48D7}"/>
              </a:ext>
            </a:extLst>
          </p:cNvPr>
          <p:cNvSpPr txBox="1"/>
          <p:nvPr/>
        </p:nvSpPr>
        <p:spPr>
          <a:xfrm>
            <a:off x="2342243" y="146820"/>
            <a:ext cx="30879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/>
                <a:cs typeface="Calibri"/>
              </a:rPr>
              <a:t>System</a:t>
            </a:r>
            <a:r>
              <a:rPr lang="en-US" sz="2400" b="1" spc="-4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b="1" spc="-10" dirty="0">
                <a:solidFill>
                  <a:srgbClr val="4F81BD"/>
                </a:solidFill>
                <a:latin typeface="Calibri"/>
                <a:cs typeface="Calibri"/>
              </a:rPr>
              <a:t>Interface</a:t>
            </a:r>
            <a:r>
              <a:rPr lang="en-US" sz="2400" b="1" spc="-4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b="1" spc="-20" dirty="0">
                <a:solidFill>
                  <a:srgbClr val="4F81BD"/>
                </a:solidFill>
                <a:latin typeface="Calibri"/>
                <a:cs typeface="Calibri"/>
              </a:rPr>
              <a:t>Table</a:t>
            </a: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558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49F75-B97E-880C-0212-C256E6BE0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66DE8-6CF9-60A3-9976-D53F50F33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139679"/>
              </p:ext>
            </p:extLst>
          </p:nvPr>
        </p:nvGraphicFramePr>
        <p:xfrm>
          <a:off x="152400" y="914400"/>
          <a:ext cx="7467600" cy="5117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306">
                  <a:extLst>
                    <a:ext uri="{9D8B030D-6E8A-4147-A177-3AD203B41FA5}">
                      <a16:colId xmlns:a16="http://schemas.microsoft.com/office/drawing/2014/main" val="1465556489"/>
                    </a:ext>
                  </a:extLst>
                </a:gridCol>
                <a:gridCol w="1387259">
                  <a:extLst>
                    <a:ext uri="{9D8B030D-6E8A-4147-A177-3AD203B41FA5}">
                      <a16:colId xmlns:a16="http://schemas.microsoft.com/office/drawing/2014/main" val="904370749"/>
                    </a:ext>
                  </a:extLst>
                </a:gridCol>
                <a:gridCol w="900835">
                  <a:extLst>
                    <a:ext uri="{9D8B030D-6E8A-4147-A177-3AD203B41FA5}">
                      <a16:colId xmlns:a16="http://schemas.microsoft.com/office/drawing/2014/main" val="352613915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976004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728755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696845148"/>
                    </a:ext>
                  </a:extLst>
                </a:gridCol>
              </a:tblGrid>
              <a:tr h="7687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704834"/>
                  </a:ext>
                </a:extLst>
              </a:tr>
              <a:tr h="768773"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0" spc="-50" dirty="0">
                          <a:latin typeface="+mn-lt"/>
                          <a:cs typeface="Cambria"/>
                        </a:rPr>
                        <a:t>5</a:t>
                      </a:r>
                      <a:endParaRPr sz="1200" b="0" dirty="0">
                        <a:latin typeface="+mn-lt"/>
                        <a:cs typeface="Cambria"/>
                      </a:endParaRPr>
                    </a:p>
                  </a:txBody>
                  <a:tcPr marL="0" marR="0" marT="35560" marB="0" anchor="ctr"/>
                </a:tc>
                <a:tc>
                  <a:txBody>
                    <a:bodyPr/>
                    <a:lstStyle/>
                    <a:p>
                      <a:pPr marL="53340" marR="7620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200" b="0" dirty="0"/>
                        <a:t>A2X (E-commerce settlements) – sales/fees/taxes in; post status/validation out.</a:t>
                      </a:r>
                      <a:endParaRPr sz="1200" b="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3340" marR="25527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200" dirty="0">
                          <a:latin typeface="+mn-lt"/>
                          <a:cs typeface="Cambria"/>
                        </a:rPr>
                        <a:t>A2X</a:t>
                      </a:r>
                      <a:endParaRPr sz="120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3975" marR="8318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IN" sz="1200" dirty="0"/>
                        <a:t>Xero → A2X</a:t>
                      </a:r>
                      <a:endParaRPr sz="120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3975" marR="19812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IN" sz="1200" dirty="0"/>
                        <a:t>Daily (after channel settlement)</a:t>
                      </a:r>
                      <a:endParaRPr sz="120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3975" marR="641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200" dirty="0"/>
                        <a:t>Period boundaries closed/open check; transaction ID uniqueness (dedupe); rounding tolerances; mapped accounts/tax codes; journal balanced (debits=credits).</a:t>
                      </a:r>
                      <a:endParaRPr sz="120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extLst>
                  <a:ext uri="{0D108BD9-81ED-4DB2-BD59-A6C34878D82A}">
                    <a16:rowId xmlns:a16="http://schemas.microsoft.com/office/drawing/2014/main" val="4234968060"/>
                  </a:ext>
                </a:extLst>
              </a:tr>
              <a:tr h="768773"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lang="en-US" sz="1200" b="0" spc="-50" dirty="0">
                          <a:latin typeface="+mn-lt"/>
                          <a:cs typeface="Cambria"/>
                        </a:rPr>
                        <a:t>6</a:t>
                      </a:r>
                      <a:endParaRPr sz="1200" b="0" dirty="0">
                        <a:latin typeface="+mn-lt"/>
                        <a:cs typeface="Cambria"/>
                      </a:endParaRPr>
                    </a:p>
                  </a:txBody>
                  <a:tcPr marL="0" marR="0" marT="35560" marB="0" anchor="ctr"/>
                </a:tc>
                <a:tc>
                  <a:txBody>
                    <a:bodyPr/>
                    <a:lstStyle/>
                    <a:p>
                      <a:pPr marL="53340" marR="18923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200" b="0" dirty="0"/>
                        <a:t>G-</a:t>
                      </a:r>
                      <a:r>
                        <a:rPr lang="en-US" sz="1200" b="0" dirty="0" err="1"/>
                        <a:t>Accon</a:t>
                      </a:r>
                      <a:r>
                        <a:rPr lang="en-US" sz="1200" b="0" dirty="0"/>
                        <a:t> (Sheets reporting) – read/export reports; optional adjustments back to Xero</a:t>
                      </a:r>
                      <a:r>
                        <a:rPr sz="1200" b="0" spc="-10" dirty="0">
                          <a:latin typeface="+mn-lt"/>
                          <a:cs typeface="Cambria"/>
                        </a:rPr>
                        <a:t>.</a:t>
                      </a:r>
                      <a:endParaRPr sz="1200" b="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3340" marR="10033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IN" sz="1200" dirty="0"/>
                        <a:t>G-</a:t>
                      </a:r>
                      <a:r>
                        <a:rPr lang="en-IN" sz="1200" dirty="0" err="1"/>
                        <a:t>Accon</a:t>
                      </a:r>
                      <a:r>
                        <a:rPr lang="en-IN" sz="1200" dirty="0"/>
                        <a:t> ↔</a:t>
                      </a:r>
                      <a:endParaRPr sz="120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3975" marR="8318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IN" sz="1200" dirty="0"/>
                        <a:t>↔ Xero</a:t>
                      </a:r>
                      <a:endParaRPr sz="120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3975" marR="41529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200" spc="-20" dirty="0">
                          <a:latin typeface="+mn-lt"/>
                          <a:cs typeface="Cambria"/>
                        </a:rPr>
                        <a:t>On-demand reads; scheduled exports daily/weekly; write-backs ad-hoc</a:t>
                      </a:r>
                      <a:endParaRPr sz="120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lang="en-US" sz="1200" dirty="0"/>
                        <a:t>Token scope (read-only unless allowed); API rate limits; CSV/Sheet schema (headers/types) validation; change control for write-backs; forbidden field updates blocked.</a:t>
                      </a:r>
                      <a:endParaRPr sz="1200" dirty="0">
                        <a:latin typeface="+mn-lt"/>
                        <a:cs typeface="Cambria"/>
                      </a:endParaRPr>
                    </a:p>
                  </a:txBody>
                  <a:tcPr marL="0" marR="0" marT="35560" marB="0" anchor="ctr"/>
                </a:tc>
                <a:extLst>
                  <a:ext uri="{0D108BD9-81ED-4DB2-BD59-A6C34878D82A}">
                    <a16:rowId xmlns:a16="http://schemas.microsoft.com/office/drawing/2014/main" val="1539615520"/>
                  </a:ext>
                </a:extLst>
              </a:tr>
              <a:tr h="768773"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0" spc="-50" dirty="0">
                          <a:latin typeface="+mn-lt"/>
                          <a:cs typeface="Cambria"/>
                        </a:rPr>
                        <a:t>7</a:t>
                      </a:r>
                      <a:endParaRPr sz="1200" b="0">
                        <a:latin typeface="+mn-lt"/>
                        <a:cs typeface="Cambria"/>
                      </a:endParaRPr>
                    </a:p>
                  </a:txBody>
                  <a:tcPr marL="0" marR="0" marT="35560" marB="0" anchor="ctr"/>
                </a:tc>
                <a:tc>
                  <a:txBody>
                    <a:bodyPr/>
                    <a:lstStyle/>
                    <a:p>
                      <a:pPr marL="56515" marR="5080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200" b="0" dirty="0"/>
                        <a:t>Stripe (Payments) – payment instructions sent; confirmations/bank feeds returned.</a:t>
                      </a:r>
                      <a:endParaRPr sz="1200" b="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651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lang="en-IN" sz="1200" dirty="0"/>
                        <a:t>Xero → (instructions) • Stripe → (notifications)</a:t>
                      </a:r>
                      <a:endParaRPr sz="1200" b="0" dirty="0">
                        <a:latin typeface="+mn-lt"/>
                        <a:cs typeface="Cambria"/>
                      </a:endParaRPr>
                    </a:p>
                  </a:txBody>
                  <a:tcPr marL="0" marR="0" marT="35560" marB="0" anchor="ctr"/>
                </a:tc>
                <a:tc>
                  <a:txBody>
                    <a:bodyPr/>
                    <a:lstStyle/>
                    <a:p>
                      <a:pPr marL="57150" marR="8001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IN" sz="1200" dirty="0"/>
                        <a:t>Stripe ↔ Xero</a:t>
                      </a:r>
                      <a:endParaRPr sz="1200" b="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7150" marR="5905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200" dirty="0"/>
                        <a:t>On payment runs (batch) + near real-time webhooks</a:t>
                      </a:r>
                      <a:endParaRPr sz="1200" b="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tc>
                  <a:txBody>
                    <a:bodyPr/>
                    <a:lstStyle/>
                    <a:p>
                      <a:pPr marL="57150" marR="64769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200" dirty="0"/>
                        <a:t>Bank account format (IBAN/routing); amount/currency agreement; idempotency keys on API calls; duplicate payment prevention; retry/backoff on failures; reconciliation reference present.</a:t>
                      </a:r>
                      <a:endParaRPr sz="1200" b="0" dirty="0">
                        <a:latin typeface="+mn-lt"/>
                        <a:cs typeface="Cambria"/>
                      </a:endParaRPr>
                    </a:p>
                  </a:txBody>
                  <a:tcPr marL="0" marR="0" marT="53340" marB="0" anchor="ctr"/>
                </a:tc>
                <a:extLst>
                  <a:ext uri="{0D108BD9-81ED-4DB2-BD59-A6C34878D82A}">
                    <a16:rowId xmlns:a16="http://schemas.microsoft.com/office/drawing/2014/main" val="3294907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608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579</Words>
  <Application>Microsoft Office PowerPoint</Application>
  <PresentationFormat>Custom</PresentationFormat>
  <Paragraphs>86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Xero_Context_Diagram_pdf</dc:title>
  <cp:lastModifiedBy>Deepesh katudia</cp:lastModifiedBy>
  <cp:revision>2</cp:revision>
  <cp:lastPrinted>2025-09-26T17:19:54Z</cp:lastPrinted>
  <dcterms:created xsi:type="dcterms:W3CDTF">2025-09-25T20:04:27Z</dcterms:created>
  <dcterms:modified xsi:type="dcterms:W3CDTF">2025-09-27T19:36:53Z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Pages</vt:lpwstr>
  </property>
  <property fmtid="{D5CDD505-2E9C-101B-9397-08002B2CF9AE}" pid="4" name="LastSaved">
    <vt:filetime>2025-09-25T00:00:00Z</vt:filetime>
  </property>
  <property fmtid="{D5CDD505-2E9C-101B-9397-08002B2CF9AE}" pid="5" name="Producer">
    <vt:lpwstr>macOS Version 15.6 (Build 24G84) Quartz PDFContext</vt:lpwstr>
  </property>
</Properties>
</file>