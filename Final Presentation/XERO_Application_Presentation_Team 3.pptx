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Roboto"/>
      <p:regular r:id="rId20"/>
      <p:bold r:id="rId21"/>
      <p:italic r:id="rId22"/>
      <p:boldItalic r:id="rId23"/>
    </p:embeddedFont>
    <p:embeddedFont>
      <p:font typeface="Urbanist Medium"/>
      <p:regular r:id="rId24"/>
      <p:bold r:id="rId25"/>
      <p:italic r:id="rId26"/>
      <p:boldItalic r:id="rId27"/>
    </p:embeddedFont>
    <p:embeddedFont>
      <p:font typeface="Urbanist"/>
      <p:regular r:id="rId28"/>
      <p:bold r:id="rId29"/>
      <p:italic r:id="rId30"/>
      <p:boldItalic r:id="rId31"/>
    </p:embeddedFont>
    <p:embeddedFont>
      <p:font typeface="Merriweather"/>
      <p:regular r:id="rId32"/>
      <p:bold r:id="rId33"/>
      <p:italic r:id="rId34"/>
      <p:boldItalic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regular.fntdata"/><Relationship Id="rId22" Type="http://schemas.openxmlformats.org/officeDocument/2006/relationships/font" Target="fonts/Roboto-italic.fntdata"/><Relationship Id="rId21" Type="http://schemas.openxmlformats.org/officeDocument/2006/relationships/font" Target="fonts/Roboto-bold.fntdata"/><Relationship Id="rId24" Type="http://schemas.openxmlformats.org/officeDocument/2006/relationships/font" Target="fonts/UrbanistMedium-regular.fntdata"/><Relationship Id="rId23" Type="http://schemas.openxmlformats.org/officeDocument/2006/relationships/font" Target="fonts/Roboto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UrbanistMedium-italic.fntdata"/><Relationship Id="rId25" Type="http://schemas.openxmlformats.org/officeDocument/2006/relationships/font" Target="fonts/UrbanistMedium-bold.fntdata"/><Relationship Id="rId28" Type="http://schemas.openxmlformats.org/officeDocument/2006/relationships/font" Target="fonts/Urbanist-regular.fntdata"/><Relationship Id="rId27" Type="http://schemas.openxmlformats.org/officeDocument/2006/relationships/font" Target="fonts/UrbanistMedium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Urbanist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Urbanist-boldItalic.fntdata"/><Relationship Id="rId30" Type="http://schemas.openxmlformats.org/officeDocument/2006/relationships/font" Target="fonts/Urbanist-italic.fntdata"/><Relationship Id="rId11" Type="http://schemas.openxmlformats.org/officeDocument/2006/relationships/slide" Target="slides/slide6.xml"/><Relationship Id="rId33" Type="http://schemas.openxmlformats.org/officeDocument/2006/relationships/font" Target="fonts/Merriweather-bold.fntdata"/><Relationship Id="rId10" Type="http://schemas.openxmlformats.org/officeDocument/2006/relationships/slide" Target="slides/slide5.xml"/><Relationship Id="rId32" Type="http://schemas.openxmlformats.org/officeDocument/2006/relationships/font" Target="fonts/Merriweather-regular.fntdata"/><Relationship Id="rId13" Type="http://schemas.openxmlformats.org/officeDocument/2006/relationships/slide" Target="slides/slide8.xml"/><Relationship Id="rId35" Type="http://schemas.openxmlformats.org/officeDocument/2006/relationships/font" Target="fonts/Merriweather-boldItalic.fntdata"/><Relationship Id="rId12" Type="http://schemas.openxmlformats.org/officeDocument/2006/relationships/slide" Target="slides/slide7.xml"/><Relationship Id="rId34" Type="http://schemas.openxmlformats.org/officeDocument/2006/relationships/font" Target="fonts/Merriweather-italic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919914d717_0_6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919914d717_0_6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919914d717_0_10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919914d717_0_10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919914d717_0_12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919914d717_0_12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919914d717_0_12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919914d717_0_12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919914d717_0_13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919914d717_0_13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19914d717_0_13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19914d717_0_13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19914d717_0_12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19914d717_0_12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19914d717_0_13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19914d717_0_1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19914d717_0_1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919914d717_0_1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919914d717_0_12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919914d717_0_12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919914d717_0_13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919914d717_0_13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919914d717_0_13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919914d717_0_13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919914d717_0_13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919914d717_0_13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919914d717_0_13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919914d717_0_13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rect b="b" l="l" r="r" t="t"/>
            <a:pathLst>
              <a:path extrusionOk="0" h="175975" w="172545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0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3"/>
          <p:cNvPicPr preferRelativeResize="0"/>
          <p:nvPr/>
        </p:nvPicPr>
        <p:blipFill rotWithShape="1">
          <a:blip r:embed="rId2">
            <a:alphaModFix amt="50000"/>
          </a:blip>
          <a:srcRect b="8145" l="3133" r="7834" t="16785"/>
          <a:stretch/>
        </p:blipFill>
        <p:spPr>
          <a:xfrm flipH="1" rot="10800000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3"/>
          <p:cNvSpPr/>
          <p:nvPr/>
        </p:nvSpPr>
        <p:spPr>
          <a:xfrm flipH="1" rot="10800000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" name="Google Shape;63;p13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64" name="Google Shape;64;p13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5" name="Google Shape;65;p13"/>
          <p:cNvSpPr txBox="1"/>
          <p:nvPr>
            <p:ph idx="3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6" name="Google Shape;66;p13"/>
          <p:cNvSpPr txBox="1"/>
          <p:nvPr>
            <p:ph idx="4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7" name="Google Shape;67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" name="Google Shape;68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" name="Google Shape;69;p13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/>
        </p:txBody>
      </p:sp>
      <p:cxnSp>
        <p:nvCxnSpPr>
          <p:cNvPr id="70" name="Google Shape;70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" name="Google Shape;71;p13"/>
          <p:cNvSpPr txBox="1"/>
          <p:nvPr>
            <p:ph idx="5" type="subTitle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2" name="Google Shape;72;p13"/>
          <p:cNvSpPr txBox="1"/>
          <p:nvPr>
            <p:ph idx="6" type="subTitle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3" name="Google Shape;73;p13"/>
          <p:cNvSpPr txBox="1"/>
          <p:nvPr>
            <p:ph idx="7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74" name="Google Shape;74;p13"/>
          <p:cNvSpPr txBox="1"/>
          <p:nvPr>
            <p:ph idx="8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b="1"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 txBox="1"/>
          <p:nvPr>
            <p:ph idx="1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7" name="Google Shape;77;p14"/>
          <p:cNvSpPr txBox="1"/>
          <p:nvPr>
            <p:ph idx="2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8" name="Google Shape;78;p14"/>
          <p:cNvSpPr txBox="1"/>
          <p:nvPr>
            <p:ph idx="3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grpSp>
        <p:nvGrpSpPr>
          <p:cNvPr id="79" name="Google Shape;79;p14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80" name="Google Shape;80;p14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81" name="Google Shape;81;p14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82" name="Google Shape;82;p14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83" name="Google Shape;83;p14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84" name="Google Shape;84;p14"/>
          <p:cNvSpPr/>
          <p:nvPr>
            <p:ph idx="4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85" name="Google Shape;85;p14"/>
          <p:cNvSpPr txBox="1"/>
          <p:nvPr>
            <p:ph idx="5" type="subTitle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6" name="Google Shape;86;p14"/>
          <p:cNvSpPr txBox="1"/>
          <p:nvPr>
            <p:ph idx="6" type="subTitle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87" name="Google Shape;87;p14"/>
          <p:cNvSpPr txBox="1"/>
          <p:nvPr>
            <p:ph idx="7" type="body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88" name="Google Shape;88;p14"/>
          <p:cNvSpPr/>
          <p:nvPr>
            <p:ph idx="8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89" name="Google Shape;89;p14"/>
          <p:cNvSpPr txBox="1"/>
          <p:nvPr>
            <p:ph idx="9" type="subTitle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0" name="Google Shape;90;p14"/>
          <p:cNvSpPr txBox="1"/>
          <p:nvPr>
            <p:ph idx="13" type="subTitle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1" name="Google Shape;91;p14"/>
          <p:cNvSpPr txBox="1"/>
          <p:nvPr>
            <p:ph idx="14" type="body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92" name="Google Shape;92;p14"/>
          <p:cNvSpPr/>
          <p:nvPr>
            <p:ph idx="15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93" name="Google Shape;93;p14"/>
          <p:cNvSpPr txBox="1"/>
          <p:nvPr>
            <p:ph idx="16" type="subTitle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4" name="Google Shape;94;p14"/>
          <p:cNvSpPr txBox="1"/>
          <p:nvPr>
            <p:ph idx="17" type="subTitle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5" name="Google Shape;95;p14"/>
          <p:cNvSpPr txBox="1"/>
          <p:nvPr>
            <p:ph idx="18" type="body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96" name="Google Shape;96;p14"/>
          <p:cNvSpPr/>
          <p:nvPr>
            <p:ph idx="19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97" name="Google Shape;97;p14"/>
          <p:cNvSpPr txBox="1"/>
          <p:nvPr>
            <p:ph idx="20" type="subTitle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anchorCtr="0" anchor="b" bIns="0" lIns="0" spcFirstLastPara="1" rIns="91425" wrap="square" tIns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8" name="Google Shape;98;p14"/>
          <p:cNvSpPr txBox="1"/>
          <p:nvPr>
            <p:ph idx="21" type="subTitle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99" name="Google Shape;99;p14"/>
          <p:cNvSpPr txBox="1"/>
          <p:nvPr>
            <p:ph idx="22" type="body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anchorCtr="0" anchor="t" bIns="0" lIns="0" spcFirstLastPara="1" rIns="91425" wrap="square" tIns="0">
            <a:norm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cxnSp>
        <p:nvCxnSpPr>
          <p:cNvPr id="100" name="Google Shape;100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" name="Google Shape;101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25.png"/></Relationships>
</file>

<file path=ppt/slides/_rels/slide6.xml.rels><?xml version="1.0" encoding="UTF-8" standalone="yes"?><Relationships xmlns="http://schemas.openxmlformats.org/package/2006/relationships"><Relationship Id="rId10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9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image" Target="../media/image18.png"/><Relationship Id="rId7" Type="http://schemas.openxmlformats.org/officeDocument/2006/relationships/image" Target="../media/image21.png"/><Relationship Id="rId8" Type="http://schemas.openxmlformats.org/officeDocument/2006/relationships/image" Target="../media/image2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4.png"/><Relationship Id="rId4" Type="http://schemas.openxmlformats.org/officeDocument/2006/relationships/image" Target="../media/image23.png"/><Relationship Id="rId5" Type="http://schemas.openxmlformats.org/officeDocument/2006/relationships/image" Target="../media/image27.png"/><Relationship Id="rId6" Type="http://schemas.openxmlformats.org/officeDocument/2006/relationships/image" Target="../media/image24.jpg"/><Relationship Id="rId7" Type="http://schemas.openxmlformats.org/officeDocument/2006/relationships/image" Target="../media/image3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://drive.google.com/file/d/12T_h27g4zy82rfRV6onhFQ6GO3mHIaP-/view" TargetMode="External"/><Relationship Id="rId4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9.png"/><Relationship Id="rId4" Type="http://schemas.openxmlformats.org/officeDocument/2006/relationships/hyperlink" Target="https://github.com/Deepesh-Katudia/CS-696F---Software-Testing---Team-3" TargetMode="External"/><Relationship Id="rId5" Type="http://schemas.openxmlformats.org/officeDocument/2006/relationships/image" Target="../media/image36.png"/><Relationship Id="rId6" Type="http://schemas.openxmlformats.org/officeDocument/2006/relationships/image" Target="../media/image2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5.png"/><Relationship Id="rId6" Type="http://schemas.openxmlformats.org/officeDocument/2006/relationships/image" Target="../media/image33.png"/><Relationship Id="rId7" Type="http://schemas.openxmlformats.org/officeDocument/2006/relationships/image" Target="../media/image2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>
                <a:solidFill>
                  <a:schemeClr val="lt1"/>
                </a:solidFill>
              </a:rPr>
              <a:t>XERO Application (Team 3)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279750" y="1772400"/>
            <a:ext cx="4402800" cy="1598700"/>
          </a:xfrm>
          <a:prstGeom prst="rect">
            <a:avLst/>
          </a:prstGeom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Team 3 (Fall 2025):</a:t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rbanist Medium"/>
              <a:buChar char="❏"/>
            </a:pP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Deepesh Katudia (QA Manager)</a:t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rbanist Medium"/>
              <a:buChar char="❏"/>
            </a:pP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Ayush Gehlot (QA Analyst)</a:t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rbanist Medium"/>
              <a:buChar char="❏"/>
            </a:pP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Parth Desai (</a:t>
            </a: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Business</a:t>
            </a: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Analyst)</a:t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rbanist Medium"/>
              <a:buChar char="❏"/>
            </a:pP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Kiran Rathod (Software Tester)</a:t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rbanist Medium"/>
              <a:buChar char="❏"/>
            </a:pP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Swatej Mella (Software Tester/Tableau Lead)</a:t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Functional Decomposition Diagram (Swatej Mella)</a:t>
            </a:r>
            <a:endParaRPr b="1" sz="2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14" name="Google Shape;11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8800" y="817250"/>
            <a:ext cx="6869992" cy="3786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Requirements Composition Table </a:t>
            </a: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(Kiran Rathod)</a:t>
            </a:r>
            <a:endParaRPr b="1" sz="2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20" name="Google Shape;12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7813" y="843400"/>
            <a:ext cx="7668373" cy="3786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8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Testing RoadMap </a:t>
            </a: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(Kiran Rathod)</a:t>
            </a:r>
            <a:endParaRPr b="1" sz="2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26" name="Google Shape;12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978050"/>
            <a:ext cx="8839198" cy="3578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9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 Plan </a:t>
            </a: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(Ayush Gehlot)</a:t>
            </a:r>
            <a:endParaRPr b="1" sz="2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32" name="Google Shape;13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3800" y="1124750"/>
            <a:ext cx="4297901" cy="3090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9"/>
          <p:cNvPicPr preferRelativeResize="0"/>
          <p:nvPr/>
        </p:nvPicPr>
        <p:blipFill rotWithShape="1">
          <a:blip r:embed="rId4">
            <a:alphaModFix/>
          </a:blip>
          <a:srcRect b="-4536" l="0" r="-999" t="0"/>
          <a:stretch/>
        </p:blipFill>
        <p:spPr>
          <a:xfrm>
            <a:off x="5079888" y="1051850"/>
            <a:ext cx="2465625" cy="197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85625" y="2986350"/>
            <a:ext cx="2654150" cy="1571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9"/>
          <p:cNvPicPr preferRelativeResize="0"/>
          <p:nvPr/>
        </p:nvPicPr>
        <p:blipFill rotWithShape="1">
          <a:blip r:embed="rId6">
            <a:alphaModFix/>
          </a:blip>
          <a:srcRect b="0" l="0" r="0" t="3474"/>
          <a:stretch/>
        </p:blipFill>
        <p:spPr>
          <a:xfrm>
            <a:off x="7422775" y="1552250"/>
            <a:ext cx="1476900" cy="761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 Plan (Ayush Gehlot)</a:t>
            </a:r>
            <a:endParaRPr b="1" sz="2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1500" y="867875"/>
            <a:ext cx="2307799" cy="142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8026" y="2243975"/>
            <a:ext cx="2404576" cy="1640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29300" y="978475"/>
            <a:ext cx="2110691" cy="164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98276" y="2618725"/>
            <a:ext cx="2172750" cy="125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13325" y="952000"/>
            <a:ext cx="1961950" cy="147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913325" y="2400600"/>
            <a:ext cx="1961950" cy="16467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875267" y="901875"/>
            <a:ext cx="2282550" cy="135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948600" y="2295275"/>
            <a:ext cx="1963925" cy="209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 Design Specification (Deepesh Katudia)</a:t>
            </a:r>
            <a:endParaRPr b="1" sz="2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54" name="Google Shape;15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6350" y="941300"/>
            <a:ext cx="4156687" cy="351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2701" y="1124750"/>
            <a:ext cx="4230274" cy="266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2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 Case Specification (Deepesh Katudia)</a:t>
            </a:r>
            <a:endParaRPr b="1" sz="2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61" name="Google Shape;16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7850" y="880100"/>
            <a:ext cx="4768151" cy="3641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22275" y="1174975"/>
            <a:ext cx="3222350" cy="152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 Summary Report </a:t>
            </a: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(Parth Desai)</a:t>
            </a:r>
            <a:endParaRPr b="1" sz="2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68" name="Google Shape;16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7425" y="776150"/>
            <a:ext cx="4860825" cy="3786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8325" y="1051850"/>
            <a:ext cx="3770950" cy="34073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 Summary Report (Parth Desai)</a:t>
            </a:r>
            <a:endParaRPr b="1" sz="2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75" name="Google Shape;17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125" y="977950"/>
            <a:ext cx="1781225" cy="78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8125" y="1912225"/>
            <a:ext cx="2954450" cy="234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4375" y="1051850"/>
            <a:ext cx="1713975" cy="60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18175" y="1764600"/>
            <a:ext cx="3382675" cy="2010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636024" y="1070613"/>
            <a:ext cx="3122261" cy="60132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4"/>
          <p:cNvSpPr txBox="1"/>
          <p:nvPr/>
        </p:nvSpPr>
        <p:spPr>
          <a:xfrm>
            <a:off x="7150500" y="1830475"/>
            <a:ext cx="1781100" cy="25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>
                <a:solidFill>
                  <a:srgbClr val="999999"/>
                </a:solidFill>
                <a:latin typeface="Merriweather"/>
                <a:ea typeface="Merriweather"/>
                <a:cs typeface="Merriweather"/>
                <a:sym typeface="Merriweather"/>
              </a:rPr>
              <a:t>Types of testing performed</a:t>
            </a:r>
            <a:endParaRPr b="1" i="1">
              <a:solidFill>
                <a:srgbClr val="999999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indent="0" lvl="0" marL="0" rtl="0" algn="l">
              <a:lnSpc>
                <a:spcPct val="107916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100">
                <a:latin typeface="Merriweather"/>
                <a:ea typeface="Merriweather"/>
                <a:cs typeface="Merriweather"/>
                <a:sym typeface="Merriweather"/>
              </a:rPr>
              <a:t>1. Functional Testing</a:t>
            </a:r>
            <a:endParaRPr b="1" sz="1100">
              <a:latin typeface="Merriweather"/>
              <a:ea typeface="Merriweather"/>
              <a:cs typeface="Merriweather"/>
              <a:sym typeface="Merriweather"/>
            </a:endParaRPr>
          </a:p>
          <a:p>
            <a:pPr indent="0" lvl="0" marL="0" rtl="0" algn="l">
              <a:lnSpc>
                <a:spcPct val="107916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100">
                <a:latin typeface="Merriweather"/>
                <a:ea typeface="Merriweather"/>
                <a:cs typeface="Merriweather"/>
                <a:sym typeface="Merriweather"/>
              </a:rPr>
              <a:t>2. Integration Testing</a:t>
            </a:r>
            <a:endParaRPr b="1" sz="1100">
              <a:latin typeface="Merriweather"/>
              <a:ea typeface="Merriweather"/>
              <a:cs typeface="Merriweather"/>
              <a:sym typeface="Merriweather"/>
            </a:endParaRPr>
          </a:p>
          <a:p>
            <a:pPr indent="0" lvl="0" marL="0" rtl="0" algn="l">
              <a:lnSpc>
                <a:spcPct val="107916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100">
                <a:latin typeface="Merriweather"/>
                <a:ea typeface="Merriweather"/>
                <a:cs typeface="Merriweather"/>
                <a:sym typeface="Merriweather"/>
              </a:rPr>
              <a:t>3. Regression Testing</a:t>
            </a:r>
            <a:endParaRPr b="1" sz="1100">
              <a:latin typeface="Merriweather"/>
              <a:ea typeface="Merriweather"/>
              <a:cs typeface="Merriweather"/>
              <a:sym typeface="Merriweather"/>
            </a:endParaRPr>
          </a:p>
          <a:p>
            <a:pPr indent="0" lvl="0" marL="0" rtl="0" algn="l">
              <a:lnSpc>
                <a:spcPct val="107916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100">
                <a:latin typeface="Merriweather"/>
                <a:ea typeface="Merriweather"/>
                <a:cs typeface="Merriweather"/>
                <a:sym typeface="Merriweather"/>
              </a:rPr>
              <a:t>4. Usability Testing</a:t>
            </a:r>
            <a:endParaRPr b="1" sz="1100">
              <a:latin typeface="Merriweather"/>
              <a:ea typeface="Merriweather"/>
              <a:cs typeface="Merriweather"/>
              <a:sym typeface="Merriweather"/>
            </a:endParaRPr>
          </a:p>
          <a:p>
            <a:pPr indent="0" lvl="0" marL="0" rtl="0" algn="l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b="1" lang="en" sz="1100">
                <a:latin typeface="Merriweather"/>
                <a:ea typeface="Merriweather"/>
                <a:cs typeface="Merriweather"/>
                <a:sym typeface="Merriweather"/>
              </a:rPr>
              <a:t>5. Validation Testing</a:t>
            </a:r>
            <a:endParaRPr b="1" i="1">
              <a:solidFill>
                <a:srgbClr val="999999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5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Application Recorded Demo </a:t>
            </a: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(Parth Desai)</a:t>
            </a:r>
            <a:endParaRPr b="1" sz="2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86" name="Google Shape;186;p25" title="Recorded_Demo_XERO_Team-3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7925" y="910700"/>
            <a:ext cx="8299325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6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Github Repo Link </a:t>
            </a: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(Deepesh Katudia)</a:t>
            </a:r>
            <a:endParaRPr b="1" sz="2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3800" y="1094150"/>
            <a:ext cx="753250" cy="42347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1367050" y="1143100"/>
            <a:ext cx="5669400" cy="57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https://github.com/Deepesh-Katudia/CS-696F---Software-Testing---Team-3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6"/>
          <p:cNvSpPr txBox="1"/>
          <p:nvPr/>
        </p:nvSpPr>
        <p:spPr>
          <a:xfrm>
            <a:off x="613800" y="1842725"/>
            <a:ext cx="2911200" cy="4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Folder Structure : </a:t>
            </a:r>
            <a:endParaRPr sz="1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95" name="Google Shape;195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5050" y="2235775"/>
            <a:ext cx="2151625" cy="2216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99075" y="1809150"/>
            <a:ext cx="5479884" cy="2572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7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Github Folder Structure (Deepesh Katudia)</a:t>
            </a:r>
            <a:endParaRPr b="1" sz="2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202" name="Google Shape;20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7700" y="899900"/>
            <a:ext cx="2349999" cy="1567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7700" y="2730775"/>
            <a:ext cx="2350000" cy="965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16100" y="899888"/>
            <a:ext cx="2205350" cy="74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16252" y="899900"/>
            <a:ext cx="2471301" cy="319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16100" y="1982225"/>
            <a:ext cx="2205350" cy="652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8"/>
          <p:cNvSpPr txBox="1"/>
          <p:nvPr>
            <p:ph type="title"/>
          </p:nvPr>
        </p:nvSpPr>
        <p:spPr>
          <a:xfrm>
            <a:off x="2615125" y="1862250"/>
            <a:ext cx="4340700" cy="866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chemeClr val="lt1"/>
                </a:solidFill>
              </a:rPr>
              <a:t>Thank You</a:t>
            </a:r>
            <a:endParaRPr sz="6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