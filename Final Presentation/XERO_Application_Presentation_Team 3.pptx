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9144000" cy="5143500" type="screen16x9"/>
  <p:notesSz cx="6858000" cy="9144000"/>
  <p:embeddedFontLst>
    <p:embeddedFont>
      <p:font typeface="Merriweather" panose="00000500000000000000" pitchFamily="2" charset="0"/>
      <p:regular r:id="rId17"/>
      <p:bold r:id="rId18"/>
      <p:italic r:id="rId19"/>
      <p:boldItalic r:id="rId20"/>
    </p:embeddedFont>
    <p:embeddedFont>
      <p:font typeface="Roboto" panose="02000000000000000000" pitchFamily="2" charset="0"/>
      <p:regular r:id="rId21"/>
      <p:bold r:id="rId22"/>
      <p:italic r:id="rId23"/>
      <p:boldItalic r:id="rId24"/>
    </p:embeddedFont>
    <p:embeddedFont>
      <p:font typeface="Urbanist" panose="020B0604020202020204" charset="0"/>
      <p:regular r:id="rId25"/>
      <p:bold r:id="rId26"/>
      <p:italic r:id="rId27"/>
      <p:boldItalic r:id="rId28"/>
    </p:embeddedFont>
    <p:embeddedFont>
      <p:font typeface="Urbanist Medium" panose="020B0604020202020204" charset="0"/>
      <p:regular r:id="rId29"/>
      <p:bold r:id="rId30"/>
      <p:italic r:id="rId31"/>
      <p:boldItalic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10" d="100"/>
          <a:sy n="210" d="100"/>
        </p:scale>
        <p:origin x="384" y="17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919914d717_0_6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919914d717_0_6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3919914d717_0_108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3919914d717_0_108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919914d717_0_12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919914d717_0_12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919914d717_0_124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3" name="Google Shape;123;g3919914d717_0_124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919914d717_0_1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919914d717_0_1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919914d717_0_13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919914d717_0_13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919914d717_0_129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1" name="Google Shape;151;g3919914d717_0_129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3919914d717_0_13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3919914d717_0_13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919914d717_0_12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919914d717_0_12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919914d717_0_127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919914d717_0_127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3919914d717_0_13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3919914d717_0_133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919914d717_0_13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919914d717_0_13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919914d717_0_13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919914d717_0_13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3919914d717_0_135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3919914d717_0_135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-125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311700" y="1878560"/>
            <a:ext cx="4242600" cy="7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sz="1600">
                <a:solidFill>
                  <a:schemeClr val="lt2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4314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4"/>
          <p:cNvSpPr/>
          <p:nvPr/>
        </p:nvSpPr>
        <p:spPr>
          <a:xfrm>
            <a:off x="0" y="44125"/>
            <a:ext cx="4313625" cy="4399375"/>
          </a:xfrm>
          <a:custGeom>
            <a:avLst/>
            <a:gdLst/>
            <a:ahLst/>
            <a:cxnLst/>
            <a:rect l="l" t="t" r="r" b="b"/>
            <a:pathLst>
              <a:path w="172545" h="175975" extrusionOk="0">
                <a:moveTo>
                  <a:pt x="0" y="157"/>
                </a:moveTo>
                <a:lnTo>
                  <a:pt x="172419" y="0"/>
                </a:lnTo>
                <a:lnTo>
                  <a:pt x="172545" y="126541"/>
                </a:lnTo>
                <a:lnTo>
                  <a:pt x="0" y="175975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</p:sp>
      <p:sp>
        <p:nvSpPr>
          <p:cNvPr id="22" name="Google Shape;22;p4"/>
          <p:cNvSpPr/>
          <p:nvPr/>
        </p:nvSpPr>
        <p:spPr>
          <a:xfrm>
            <a:off x="-125" y="0"/>
            <a:ext cx="4316900" cy="4395600"/>
          </a:xfrm>
          <a:custGeom>
            <a:avLst/>
            <a:gdLst/>
            <a:ahLst/>
            <a:cxnLst/>
            <a:rect l="l" t="t" r="r" b="b"/>
            <a:pathLst>
              <a:path w="172676" h="175824" extrusionOk="0">
                <a:moveTo>
                  <a:pt x="0" y="6"/>
                </a:moveTo>
                <a:lnTo>
                  <a:pt x="172676" y="0"/>
                </a:lnTo>
                <a:lnTo>
                  <a:pt x="172562" y="126442"/>
                </a:lnTo>
                <a:lnTo>
                  <a:pt x="0" y="175824"/>
                </a:lnTo>
                <a:close/>
              </a:path>
            </a:pathLst>
          </a:custGeom>
          <a:solidFill>
            <a:schemeClr val="dk1"/>
          </a:solidFill>
          <a:ln>
            <a:noFill/>
          </a:ln>
        </p:spPr>
      </p:sp>
      <p:sp>
        <p:nvSpPr>
          <p:cNvPr id="23" name="Google Shape;23;p4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706500" cy="2508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1"/>
          </p:nvPr>
        </p:nvSpPr>
        <p:spPr>
          <a:xfrm>
            <a:off x="4644675" y="500925"/>
            <a:ext cx="4166400" cy="409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/>
          <p:nvPr/>
        </p:nvSpPr>
        <p:spPr>
          <a:xfrm>
            <a:off x="0" y="0"/>
            <a:ext cx="37644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3127500" cy="18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" name="Google Shape;39;p7"/>
          <p:cNvSpPr txBox="1">
            <a:spLocks noGrp="1"/>
          </p:cNvSpPr>
          <p:nvPr>
            <p:ph type="body" idx="1"/>
          </p:nvPr>
        </p:nvSpPr>
        <p:spPr>
          <a:xfrm>
            <a:off x="311700" y="2390650"/>
            <a:ext cx="3127500" cy="2298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3" name="Google Shape;43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7" name="Google Shape;47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8" name="Google Shape;48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52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3" name="Google Shape;5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6" name="Google Shape;56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ALT 1">
  <p:cSld name="BLANK_4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61;p13"/>
          <p:cNvPicPr preferRelativeResize="0"/>
          <p:nvPr/>
        </p:nvPicPr>
        <p:blipFill rotWithShape="1">
          <a:blip r:embed="rId2">
            <a:alphaModFix amt="50000"/>
          </a:blip>
          <a:srcRect l="3133" t="16785" r="7834" b="8145"/>
          <a:stretch/>
        </p:blipFill>
        <p:spPr>
          <a:xfrm rot="10800000" flipH="1">
            <a:off x="0" y="-3474"/>
            <a:ext cx="9161550" cy="5154499"/>
          </a:xfrm>
          <a:prstGeom prst="rect">
            <a:avLst/>
          </a:prstGeom>
          <a:noFill/>
          <a:ln>
            <a:noFill/>
          </a:ln>
        </p:spPr>
      </p:pic>
      <p:sp>
        <p:nvSpPr>
          <p:cNvPr id="62" name="Google Shape;62;p13"/>
          <p:cNvSpPr/>
          <p:nvPr/>
        </p:nvSpPr>
        <p:spPr>
          <a:xfrm rot="10800000" flipH="1">
            <a:off x="0" y="4676700"/>
            <a:ext cx="9149700" cy="46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228600" y="1738950"/>
            <a:ext cx="4402800" cy="252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Urbanist"/>
              <a:buNone/>
              <a:defRPr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Urbanist"/>
              <a:buNone/>
              <a:defRPr>
                <a:solidFill>
                  <a:schemeClr val="dk2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2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3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subTitle" idx="4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67" name="Google Shape;67;p13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8" name="Google Shape;68;p13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1pPr>
            <a:lvl2pPr lvl="1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2pPr>
            <a:lvl3pPr lvl="2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3pPr>
            <a:lvl4pPr lvl="3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4pPr>
            <a:lvl5pPr lvl="4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5pPr>
            <a:lvl6pPr lvl="5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6pPr>
            <a:lvl7pPr lvl="6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7pPr>
            <a:lvl8pPr lvl="7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8pPr>
            <a:lvl9pPr lvl="8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cxnSp>
        <p:nvCxnSpPr>
          <p:cNvPr id="70" name="Google Shape;70;p13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71" name="Google Shape;71;p13"/>
          <p:cNvSpPr txBox="1">
            <a:spLocks noGrp="1"/>
          </p:cNvSpPr>
          <p:nvPr>
            <p:ph type="subTitle" idx="5"/>
          </p:nvPr>
        </p:nvSpPr>
        <p:spPr>
          <a:xfrm>
            <a:off x="2970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6"/>
          </p:nvPr>
        </p:nvSpPr>
        <p:spPr>
          <a:xfrm>
            <a:off x="1786375" y="4175900"/>
            <a:ext cx="1264800" cy="2286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7"/>
          </p:nvPr>
        </p:nvSpPr>
        <p:spPr>
          <a:xfrm>
            <a:off x="228591" y="3454475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8"/>
          </p:nvPr>
        </p:nvSpPr>
        <p:spPr>
          <a:xfrm>
            <a:off x="228591" y="3743050"/>
            <a:ext cx="4659600" cy="252000"/>
          </a:xfrm>
          <a:prstGeom prst="rect">
            <a:avLst/>
          </a:prstGeom>
        </p:spPr>
        <p:txBody>
          <a:bodyPr spcFirstLastPara="1" wrap="square" lIns="0" tIns="0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Urbanist"/>
              <a:buNone/>
              <a:defRPr sz="1200" b="1"/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 b="1"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rds w/ images">
  <p:cSld name="BLANK_1_1_1_1_1_1_1_1_1_1_3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4"/>
          <p:cNvSpPr txBox="1">
            <a:spLocks noGrp="1"/>
          </p:cNvSpPr>
          <p:nvPr>
            <p:ph type="subTitle" idx="1"/>
          </p:nvPr>
        </p:nvSpPr>
        <p:spPr>
          <a:xfrm>
            <a:off x="320625" y="4675975"/>
            <a:ext cx="27000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7" name="Google Shape;77;p14"/>
          <p:cNvSpPr txBox="1">
            <a:spLocks noGrp="1"/>
          </p:cNvSpPr>
          <p:nvPr>
            <p:ph type="subTitle" idx="2"/>
          </p:nvPr>
        </p:nvSpPr>
        <p:spPr>
          <a:xfrm>
            <a:off x="4716740" y="4675975"/>
            <a:ext cx="2294700" cy="2364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sp>
        <p:nvSpPr>
          <p:cNvPr id="78" name="Google Shape;78;p14"/>
          <p:cNvSpPr txBox="1">
            <a:spLocks noGrp="1"/>
          </p:cNvSpPr>
          <p:nvPr>
            <p:ph type="subTitle" idx="3"/>
          </p:nvPr>
        </p:nvSpPr>
        <p:spPr>
          <a:xfrm>
            <a:off x="6859200" y="4683725"/>
            <a:ext cx="2056500" cy="228600"/>
          </a:xfrm>
          <a:prstGeom prst="rect">
            <a:avLst/>
          </a:prstGeom>
        </p:spPr>
        <p:txBody>
          <a:bodyPr spcFirstLastPara="1" wrap="square" lIns="0" tIns="0" rIns="0" bIns="0" anchor="b" anchorCtr="0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2pPr>
            <a:lvl3pPr lvl="2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3pPr>
            <a:lvl4pPr lvl="3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4pPr>
            <a:lvl5pPr lvl="4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5pPr>
            <a:lvl6pPr lvl="5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6pPr>
            <a:lvl7pPr lvl="6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7pPr>
            <a:lvl8pPr lvl="7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8pPr>
            <a:lvl9pPr lvl="8" algn="r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700"/>
              <a:buFont typeface="Urbanist Medium"/>
              <a:buNone/>
              <a:defRPr sz="700">
                <a:solidFill>
                  <a:schemeClr val="dk2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9pPr>
          </a:lstStyle>
          <a:p>
            <a:endParaRPr/>
          </a:p>
        </p:txBody>
      </p:sp>
      <p:grpSp>
        <p:nvGrpSpPr>
          <p:cNvPr id="79" name="Google Shape;79;p14"/>
          <p:cNvGrpSpPr/>
          <p:nvPr/>
        </p:nvGrpSpPr>
        <p:grpSpPr>
          <a:xfrm rot="5400000">
            <a:off x="8691475" y="228504"/>
            <a:ext cx="228589" cy="228623"/>
            <a:chOff x="1688332" y="4135245"/>
            <a:chExt cx="338700" cy="338700"/>
          </a:xfrm>
        </p:grpSpPr>
        <p:sp>
          <p:nvSpPr>
            <p:cNvPr id="80" name="Google Shape;80;p14"/>
            <p:cNvSpPr/>
            <p:nvPr/>
          </p:nvSpPr>
          <p:spPr>
            <a:xfrm rot="-5400000">
              <a:off x="1688332" y="4135245"/>
              <a:ext cx="338700" cy="338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chemeClr val="dk1"/>
                </a:solidFill>
                <a:latin typeface="Urbanist"/>
                <a:ea typeface="Urbanist"/>
                <a:cs typeface="Urbanist"/>
                <a:sym typeface="Urbanist"/>
              </a:endParaRPr>
            </a:p>
          </p:txBody>
        </p:sp>
        <p:grpSp>
          <p:nvGrpSpPr>
            <p:cNvPr id="81" name="Google Shape;81;p14"/>
            <p:cNvGrpSpPr/>
            <p:nvPr/>
          </p:nvGrpSpPr>
          <p:grpSpPr>
            <a:xfrm rot="-5400000">
              <a:off x="1787014" y="4262191"/>
              <a:ext cx="169598" cy="84809"/>
              <a:chOff x="498725" y="2069800"/>
              <a:chExt cx="205200" cy="102600"/>
            </a:xfrm>
          </p:grpSpPr>
          <p:cxnSp>
            <p:nvCxnSpPr>
              <p:cNvPr id="82" name="Google Shape;82;p14"/>
              <p:cNvCxnSpPr/>
              <p:nvPr/>
            </p:nvCxnSpPr>
            <p:spPr>
              <a:xfrm>
                <a:off x="4987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" name="Google Shape;83;p14"/>
              <p:cNvCxnSpPr/>
              <p:nvPr/>
            </p:nvCxnSpPr>
            <p:spPr>
              <a:xfrm flipH="1">
                <a:off x="601325" y="2069800"/>
                <a:ext cx="102600" cy="102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84" name="Google Shape;84;p14"/>
          <p:cNvSpPr>
            <a:spLocks noGrp="1"/>
          </p:cNvSpPr>
          <p:nvPr>
            <p:ph type="pic" idx="4"/>
          </p:nvPr>
        </p:nvSpPr>
        <p:spPr>
          <a:xfrm>
            <a:off x="4267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85" name="Google Shape;85;p14"/>
          <p:cNvSpPr txBox="1">
            <a:spLocks noGrp="1"/>
          </p:cNvSpPr>
          <p:nvPr>
            <p:ph type="subTitle" idx="5"/>
          </p:nvPr>
        </p:nvSpPr>
        <p:spPr>
          <a:xfrm>
            <a:off x="426700" y="2708802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6" name="Google Shape;86;p14"/>
          <p:cNvSpPr txBox="1">
            <a:spLocks noGrp="1"/>
          </p:cNvSpPr>
          <p:nvPr>
            <p:ph type="subTitle" idx="6"/>
          </p:nvPr>
        </p:nvSpPr>
        <p:spPr>
          <a:xfrm>
            <a:off x="4267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87" name="Google Shape;87;p14"/>
          <p:cNvSpPr txBox="1">
            <a:spLocks noGrp="1"/>
          </p:cNvSpPr>
          <p:nvPr>
            <p:ph type="body" idx="7"/>
          </p:nvPr>
        </p:nvSpPr>
        <p:spPr>
          <a:xfrm>
            <a:off x="4267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88" name="Google Shape;88;p14"/>
          <p:cNvSpPr>
            <a:spLocks noGrp="1"/>
          </p:cNvSpPr>
          <p:nvPr>
            <p:ph type="pic" idx="8"/>
          </p:nvPr>
        </p:nvSpPr>
        <p:spPr>
          <a:xfrm>
            <a:off x="26218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89" name="Google Shape;89;p14"/>
          <p:cNvSpPr txBox="1">
            <a:spLocks noGrp="1"/>
          </p:cNvSpPr>
          <p:nvPr>
            <p:ph type="subTitle" idx="9"/>
          </p:nvPr>
        </p:nvSpPr>
        <p:spPr>
          <a:xfrm>
            <a:off x="26218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0" name="Google Shape;90;p14"/>
          <p:cNvSpPr txBox="1">
            <a:spLocks noGrp="1"/>
          </p:cNvSpPr>
          <p:nvPr>
            <p:ph type="subTitle" idx="13"/>
          </p:nvPr>
        </p:nvSpPr>
        <p:spPr>
          <a:xfrm>
            <a:off x="2621800" y="2936075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1" name="Google Shape;91;p14"/>
          <p:cNvSpPr txBox="1">
            <a:spLocks noGrp="1"/>
          </p:cNvSpPr>
          <p:nvPr>
            <p:ph type="body" idx="14"/>
          </p:nvPr>
        </p:nvSpPr>
        <p:spPr>
          <a:xfrm>
            <a:off x="2621800" y="3251425"/>
            <a:ext cx="17058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2" name="Google Shape;92;p14"/>
          <p:cNvSpPr>
            <a:spLocks noGrp="1"/>
          </p:cNvSpPr>
          <p:nvPr>
            <p:ph type="pic" idx="15"/>
          </p:nvPr>
        </p:nvSpPr>
        <p:spPr>
          <a:xfrm>
            <a:off x="48169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3" name="Google Shape;93;p14"/>
          <p:cNvSpPr txBox="1">
            <a:spLocks noGrp="1"/>
          </p:cNvSpPr>
          <p:nvPr>
            <p:ph type="subTitle" idx="16"/>
          </p:nvPr>
        </p:nvSpPr>
        <p:spPr>
          <a:xfrm>
            <a:off x="4816900" y="2708808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4" name="Google Shape;94;p14"/>
          <p:cNvSpPr txBox="1">
            <a:spLocks noGrp="1"/>
          </p:cNvSpPr>
          <p:nvPr>
            <p:ph type="subTitle" idx="17"/>
          </p:nvPr>
        </p:nvSpPr>
        <p:spPr>
          <a:xfrm>
            <a:off x="48169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8"/>
          </p:nvPr>
        </p:nvSpPr>
        <p:spPr>
          <a:xfrm>
            <a:off x="4817025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sp>
        <p:nvSpPr>
          <p:cNvPr id="96" name="Google Shape;96;p14"/>
          <p:cNvSpPr>
            <a:spLocks noGrp="1"/>
          </p:cNvSpPr>
          <p:nvPr>
            <p:ph type="pic" idx="19"/>
          </p:nvPr>
        </p:nvSpPr>
        <p:spPr>
          <a:xfrm>
            <a:off x="7012000" y="1896600"/>
            <a:ext cx="665400" cy="685500"/>
          </a:xfrm>
          <a:prstGeom prst="roundRect">
            <a:avLst>
              <a:gd name="adj" fmla="val 17601"/>
            </a:avLst>
          </a:prstGeom>
          <a:noFill/>
          <a:ln>
            <a:noFill/>
          </a:ln>
        </p:spPr>
      </p:sp>
      <p:sp>
        <p:nvSpPr>
          <p:cNvPr id="97" name="Google Shape;97;p14"/>
          <p:cNvSpPr txBox="1">
            <a:spLocks noGrp="1"/>
          </p:cNvSpPr>
          <p:nvPr>
            <p:ph type="subTitle" idx="20"/>
          </p:nvPr>
        </p:nvSpPr>
        <p:spPr>
          <a:xfrm>
            <a:off x="7012000" y="2708807"/>
            <a:ext cx="1761900" cy="228600"/>
          </a:xfrm>
          <a:prstGeom prst="rect">
            <a:avLst/>
          </a:prstGeom>
        </p:spPr>
        <p:txBody>
          <a:bodyPr spcFirstLastPara="1" wrap="square" lIns="0" tIns="0" rIns="91425" bIns="0" anchor="b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3"/>
                </a:solidFill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100"/>
              <a:buFont typeface="Urbanist"/>
              <a:buNone/>
              <a:defRPr>
                <a:solidFill>
                  <a:schemeClr val="accent3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subTitle" idx="21"/>
          </p:nvPr>
        </p:nvSpPr>
        <p:spPr>
          <a:xfrm>
            <a:off x="7012000" y="2936076"/>
            <a:ext cx="1761900" cy="1638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lv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latin typeface="Urbanist Medium"/>
                <a:ea typeface="Urbanist Medium"/>
                <a:cs typeface="Urbanist Medium"/>
                <a:sym typeface="Urbanist Medium"/>
              </a:defRPr>
            </a:lvl1pPr>
            <a:lvl2pPr lvl="1"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Urbanist"/>
              <a:buNone/>
              <a:defRPr>
                <a:solidFill>
                  <a:schemeClr val="lt1"/>
                </a:solidFill>
                <a:latin typeface="Urbanist"/>
                <a:ea typeface="Urbanist"/>
                <a:cs typeface="Urbanist"/>
                <a:sym typeface="Urbanist"/>
              </a:defRPr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body" idx="22"/>
          </p:nvPr>
        </p:nvSpPr>
        <p:spPr>
          <a:xfrm>
            <a:off x="7012000" y="3251425"/>
            <a:ext cx="1761900" cy="965100"/>
          </a:xfrm>
          <a:prstGeom prst="rect">
            <a:avLst/>
          </a:prstGeom>
        </p:spPr>
        <p:txBody>
          <a:bodyPr spcFirstLastPara="1" wrap="square" lIns="0" tIns="0" rIns="91425" bIns="0" anchor="t" anchorCtr="0">
            <a:normAutofit/>
          </a:bodyPr>
          <a:lstStyle>
            <a:lvl1pPr marL="457200" lvl="0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1pPr>
            <a:lvl2pPr marL="914400" lvl="1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2pPr>
            <a:lvl3pPr marL="1371600" lvl="2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3pPr>
            <a:lvl4pPr marL="1828800" lvl="3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4pPr>
            <a:lvl5pPr marL="2286000" lvl="4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5pPr>
            <a:lvl6pPr marL="2743200" lvl="5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6pPr>
            <a:lvl7pPr marL="3200400" lvl="6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●"/>
              <a:defRPr sz="1000"/>
            </a:lvl7pPr>
            <a:lvl8pPr marL="3657600" lvl="7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○"/>
              <a:defRPr sz="1000"/>
            </a:lvl8pPr>
            <a:lvl9pPr marL="4114800" lvl="8" indent="-2921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Urbanist"/>
              <a:buChar char="■"/>
              <a:defRPr sz="1000"/>
            </a:lvl9pPr>
          </a:lstStyle>
          <a:p>
            <a:endParaRPr/>
          </a:p>
        </p:txBody>
      </p:sp>
      <p:cxnSp>
        <p:nvCxnSpPr>
          <p:cNvPr id="100" name="Google Shape;100;p14"/>
          <p:cNvCxnSpPr/>
          <p:nvPr/>
        </p:nvCxnSpPr>
        <p:spPr>
          <a:xfrm>
            <a:off x="238800" y="4683300"/>
            <a:ext cx="8676900" cy="0"/>
          </a:xfrm>
          <a:prstGeom prst="straightConnector1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01" name="Google Shape;101;p14"/>
          <p:cNvSpPr/>
          <p:nvPr/>
        </p:nvSpPr>
        <p:spPr>
          <a:xfrm>
            <a:off x="228600" y="4837500"/>
            <a:ext cx="48900" cy="489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  <p:sp>
        <p:nvSpPr>
          <p:cNvPr id="102" name="Google Shape;102;p14"/>
          <p:cNvSpPr/>
          <p:nvPr/>
        </p:nvSpPr>
        <p:spPr>
          <a:xfrm>
            <a:off x="4618950" y="4839000"/>
            <a:ext cx="45900" cy="459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Urbanist"/>
              <a:ea typeface="Urbanist"/>
              <a:cs typeface="Urbanist"/>
              <a:sym typeface="Urbanist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805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6.jp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hyperlink" Target="https://github.com/Deepesh-Katudia/CS-696F---Software-Testing---Team-3" TargetMode="Externa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>
            <a:spLocks noGrp="1"/>
          </p:cNvSpPr>
          <p:nvPr>
            <p:ph type="title"/>
          </p:nvPr>
        </p:nvSpPr>
        <p:spPr>
          <a:xfrm>
            <a:off x="228600" y="228600"/>
            <a:ext cx="6658800" cy="14190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en">
                <a:solidFill>
                  <a:schemeClr val="lt1"/>
                </a:solidFill>
              </a:rPr>
              <a:t>XERO Application (Team 3)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08" name="Google Shape;108;p15"/>
          <p:cNvSpPr txBox="1">
            <a:spLocks noGrp="1"/>
          </p:cNvSpPr>
          <p:nvPr>
            <p:ph type="subTitle" idx="1"/>
          </p:nvPr>
        </p:nvSpPr>
        <p:spPr>
          <a:xfrm>
            <a:off x="279750" y="1772400"/>
            <a:ext cx="4402800" cy="1598700"/>
          </a:xfrm>
          <a:prstGeom prst="rect">
            <a:avLst/>
          </a:prstGeom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Team 3 (Fall 2025):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Deepesh Katudia (QA Manager)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Ayush Gehlot (QA Analyst)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Parth Desai (Business Analyst)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Kiran Rathod (Software Tester)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Urbanist Medium"/>
              <a:buChar char="❏"/>
            </a:pPr>
            <a:r>
              <a:rPr lang="en">
                <a:solidFill>
                  <a:schemeClr val="lt1"/>
                </a:solidFill>
                <a:latin typeface="Urbanist Medium"/>
                <a:ea typeface="Urbanist Medium"/>
                <a:cs typeface="Urbanist Medium"/>
                <a:sym typeface="Urbanist Medium"/>
              </a:rPr>
              <a:t>Swatej Mella (Software Tester/Tableau Lead)</a:t>
            </a:r>
            <a:endParaRPr>
              <a:solidFill>
                <a:schemeClr val="lt1"/>
              </a:solidFill>
              <a:latin typeface="Urbanist Medium"/>
              <a:ea typeface="Urbanist Medium"/>
              <a:cs typeface="Urbanist Medium"/>
              <a:sym typeface="Urbanist Medium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Functional Decomposition Diagram (Swatej Mella)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8800" y="817250"/>
            <a:ext cx="6869992" cy="37868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Requirements Composition Table (Kiran Rathod)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20" name="Google Shape;120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7813" y="843400"/>
            <a:ext cx="7668373" cy="37868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8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Testing RoadMap (Kiran Rathod)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26" name="Google Shape;12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978050"/>
            <a:ext cx="8839198" cy="35786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9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Plan (Ayush Gehlot)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32" name="Google Shape;132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800" y="1124750"/>
            <a:ext cx="4297901" cy="3090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9"/>
          <p:cNvPicPr preferRelativeResize="0"/>
          <p:nvPr/>
        </p:nvPicPr>
        <p:blipFill rotWithShape="1">
          <a:blip r:embed="rId4">
            <a:alphaModFix/>
          </a:blip>
          <a:srcRect r="-999" b="-4536"/>
          <a:stretch/>
        </p:blipFill>
        <p:spPr>
          <a:xfrm>
            <a:off x="5079888" y="1051850"/>
            <a:ext cx="2465625" cy="197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85625" y="2986350"/>
            <a:ext cx="2654150" cy="1571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9"/>
          <p:cNvPicPr preferRelativeResize="0"/>
          <p:nvPr/>
        </p:nvPicPr>
        <p:blipFill rotWithShape="1">
          <a:blip r:embed="rId6">
            <a:alphaModFix/>
          </a:blip>
          <a:srcRect t="3474"/>
          <a:stretch/>
        </p:blipFill>
        <p:spPr>
          <a:xfrm>
            <a:off x="7422775" y="1552250"/>
            <a:ext cx="1476900" cy="761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0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Plan (Ayush Gehlot)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41" name="Google Shape;141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1500" y="867875"/>
            <a:ext cx="2307799" cy="1427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8026" y="2243975"/>
            <a:ext cx="2404576" cy="16402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2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729300" y="978475"/>
            <a:ext cx="2110691" cy="164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98276" y="2618725"/>
            <a:ext cx="2172750" cy="125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2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913325" y="952000"/>
            <a:ext cx="1961950" cy="1473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913325" y="2400600"/>
            <a:ext cx="1961950" cy="164672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7" name="Google Shape;147;p2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75267" y="901875"/>
            <a:ext cx="2282550" cy="1359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8" name="Google Shape;148;p2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948600" y="2295275"/>
            <a:ext cx="1963925" cy="20982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Design Specification (Deepesh Katudia)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54" name="Google Shape;15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56350" y="941300"/>
            <a:ext cx="4156687" cy="3511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5" name="Google Shape;155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2701" y="1124750"/>
            <a:ext cx="4230274" cy="2668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2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Case Specification (Deepesh Katudia)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61" name="Google Shape;16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7850" y="880100"/>
            <a:ext cx="4768151" cy="3641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2" name="Google Shape;162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622275" y="1174975"/>
            <a:ext cx="3222350" cy="15219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Summary Report (Parth Desai)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68" name="Google Shape;168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7425" y="776150"/>
            <a:ext cx="4860825" cy="3786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98325" y="1051850"/>
            <a:ext cx="3770950" cy="34073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Test Summary Report (Parth Desai)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75" name="Google Shape;175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125" y="977950"/>
            <a:ext cx="1781225" cy="786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48125" y="1912225"/>
            <a:ext cx="2954450" cy="2340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7" name="Google Shape;177;p2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424375" y="1051850"/>
            <a:ext cx="1713975" cy="601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618175" y="1764600"/>
            <a:ext cx="3382675" cy="2010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4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636024" y="1070613"/>
            <a:ext cx="3122261" cy="601325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4"/>
          <p:cNvSpPr txBox="1"/>
          <p:nvPr/>
        </p:nvSpPr>
        <p:spPr>
          <a:xfrm>
            <a:off x="7150500" y="1830475"/>
            <a:ext cx="1781100" cy="255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7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b="1" i="1">
                <a:solidFill>
                  <a:srgbClr val="999999"/>
                </a:solidFill>
                <a:latin typeface="Merriweather"/>
                <a:ea typeface="Merriweather"/>
                <a:cs typeface="Merriweather"/>
                <a:sym typeface="Merriweather"/>
              </a:rPr>
              <a:t>Types of testing performed</a:t>
            </a:r>
            <a:endParaRPr b="1" i="1">
              <a:solidFill>
                <a:srgbClr val="999999"/>
              </a:solidFill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latin typeface="Merriweather"/>
                <a:ea typeface="Merriweather"/>
                <a:cs typeface="Merriweather"/>
                <a:sym typeface="Merriweather"/>
              </a:rPr>
              <a:t>1. Functional Testing</a:t>
            </a:r>
            <a:endParaRPr sz="1100" b="1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latin typeface="Merriweather"/>
                <a:ea typeface="Merriweather"/>
                <a:cs typeface="Merriweather"/>
                <a:sym typeface="Merriweather"/>
              </a:rPr>
              <a:t>2. Integration Testing</a:t>
            </a:r>
            <a:endParaRPr sz="1100" b="1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latin typeface="Merriweather"/>
                <a:ea typeface="Merriweather"/>
                <a:cs typeface="Merriweather"/>
                <a:sym typeface="Merriweather"/>
              </a:rPr>
              <a:t>3. Regression Testing</a:t>
            </a:r>
            <a:endParaRPr sz="1100" b="1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7916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100" b="1">
                <a:latin typeface="Merriweather"/>
                <a:ea typeface="Merriweather"/>
                <a:cs typeface="Merriweather"/>
                <a:sym typeface="Merriweather"/>
              </a:rPr>
              <a:t>4. Usability Testing</a:t>
            </a:r>
            <a:endParaRPr sz="1100" b="1">
              <a:latin typeface="Merriweather"/>
              <a:ea typeface="Merriweather"/>
              <a:cs typeface="Merriweather"/>
              <a:sym typeface="Merriweather"/>
            </a:endParaRPr>
          </a:p>
          <a:p>
            <a:pPr marL="0" lvl="0" indent="0" algn="l" rtl="0">
              <a:lnSpc>
                <a:spcPct val="107916"/>
              </a:lnSpc>
              <a:spcBef>
                <a:spcPts val="1400"/>
              </a:spcBef>
              <a:spcAft>
                <a:spcPts val="400"/>
              </a:spcAft>
              <a:buNone/>
            </a:pPr>
            <a:r>
              <a:rPr lang="en" sz="1100" b="1">
                <a:latin typeface="Merriweather"/>
                <a:ea typeface="Merriweather"/>
                <a:cs typeface="Merriweather"/>
                <a:sym typeface="Merriweather"/>
              </a:rPr>
              <a:t>5. Validation Testing</a:t>
            </a:r>
            <a:endParaRPr b="1" i="1">
              <a:solidFill>
                <a:srgbClr val="999999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5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Application Recorded Demo (Parth Desai)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3" name="Picture 2" descr="A computer screen shot of a message&#10;&#10;AI-generated content may be incorrect.">
            <a:extLst>
              <a:ext uri="{FF2B5EF4-FFF2-40B4-BE49-F238E27FC236}">
                <a16:creationId xmlns:a16="http://schemas.microsoft.com/office/drawing/2014/main" id="{864A6816-9164-CD38-6FA1-106748CFB5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1911" y="867916"/>
            <a:ext cx="6469934" cy="3621743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6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Github Repo Link (Deepesh Katudia)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92" name="Google Shape;192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13800" y="1094150"/>
            <a:ext cx="753250" cy="42347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p26"/>
          <p:cNvSpPr txBox="1"/>
          <p:nvPr/>
        </p:nvSpPr>
        <p:spPr>
          <a:xfrm>
            <a:off x="1367050" y="1143100"/>
            <a:ext cx="5669400" cy="57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 u="sng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4"/>
              </a:rPr>
              <a:t>https://github.com/Deepesh-Katudia/CS-696F---Software-Testing---Team-3</a:t>
            </a:r>
            <a:endParaRPr sz="1300">
              <a:solidFill>
                <a:schemeClr val="dk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4" name="Google Shape;194;p26"/>
          <p:cNvSpPr txBox="1"/>
          <p:nvPr/>
        </p:nvSpPr>
        <p:spPr>
          <a:xfrm>
            <a:off x="613800" y="1842725"/>
            <a:ext cx="2911200" cy="42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Folder Structure : </a:t>
            </a:r>
            <a:endParaRPr sz="1300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195" name="Google Shape;195;p2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5050" y="2235775"/>
            <a:ext cx="2151625" cy="221694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2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99075" y="1809150"/>
            <a:ext cx="5479884" cy="2572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27"/>
          <p:cNvSpPr txBox="1"/>
          <p:nvPr/>
        </p:nvSpPr>
        <p:spPr>
          <a:xfrm>
            <a:off x="613800" y="214550"/>
            <a:ext cx="7740000" cy="8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 b="1">
                <a:solidFill>
                  <a:schemeClr val="dk2"/>
                </a:solidFill>
                <a:latin typeface="Merriweather"/>
                <a:ea typeface="Merriweather"/>
                <a:cs typeface="Merriweather"/>
                <a:sym typeface="Merriweather"/>
              </a:rPr>
              <a:t>Github Folder Structure (Deepesh Katudia)</a:t>
            </a:r>
            <a:endParaRPr sz="2300" b="1">
              <a:solidFill>
                <a:schemeClr val="dk2"/>
              </a:solidFill>
              <a:latin typeface="Merriweather"/>
              <a:ea typeface="Merriweather"/>
              <a:cs typeface="Merriweather"/>
              <a:sym typeface="Merriweather"/>
            </a:endParaRPr>
          </a:p>
        </p:txBody>
      </p:sp>
      <p:pic>
        <p:nvPicPr>
          <p:cNvPr id="202" name="Google Shape;202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7700" y="899900"/>
            <a:ext cx="2349999" cy="15678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7700" y="2730775"/>
            <a:ext cx="2350000" cy="96595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4" name="Google Shape;204;p2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16100" y="899888"/>
            <a:ext cx="2205350" cy="748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5" name="Google Shape;205;p2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416252" y="899900"/>
            <a:ext cx="2471301" cy="319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6" name="Google Shape;206;p27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416100" y="1982225"/>
            <a:ext cx="2205350" cy="652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8"/>
          <p:cNvSpPr txBox="1">
            <a:spLocks noGrp="1"/>
          </p:cNvSpPr>
          <p:nvPr>
            <p:ph type="title"/>
          </p:nvPr>
        </p:nvSpPr>
        <p:spPr>
          <a:xfrm>
            <a:off x="2615125" y="1862250"/>
            <a:ext cx="4340700" cy="866100"/>
          </a:xfrm>
          <a:prstGeom prst="rect">
            <a:avLst/>
          </a:prstGeom>
        </p:spPr>
        <p:txBody>
          <a:bodyPr spcFirstLastPara="1" wrap="square" lIns="0" tIns="0" rIns="0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0">
                <a:solidFill>
                  <a:schemeClr val="lt1"/>
                </a:solidFill>
              </a:rPr>
              <a:t>Thank You</a:t>
            </a:r>
            <a:endParaRPr sz="6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</Words>
  <Application>Microsoft Office PowerPoint</Application>
  <PresentationFormat>On-screen Show (16:9)</PresentationFormat>
  <Paragraphs>28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Roboto</vt:lpstr>
      <vt:lpstr>Merriweather</vt:lpstr>
      <vt:lpstr>Arial</vt:lpstr>
      <vt:lpstr>Urbanist</vt:lpstr>
      <vt:lpstr>Urbanist Medium</vt:lpstr>
      <vt:lpstr>Paradigm</vt:lpstr>
      <vt:lpstr>XERO Application (Team 3)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Deepesh katudia</cp:lastModifiedBy>
  <cp:revision>1</cp:revision>
  <dcterms:modified xsi:type="dcterms:W3CDTF">2025-12-12T03:24:25Z</dcterms:modified>
</cp:coreProperties>
</file>