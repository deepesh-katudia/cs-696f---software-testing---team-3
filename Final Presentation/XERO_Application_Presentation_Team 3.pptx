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Urbanist Medium"/>
      <p:regular r:id="rId24"/>
      <p:bold r:id="rId25"/>
      <p:italic r:id="rId26"/>
      <p:boldItalic r:id="rId27"/>
    </p:embeddedFont>
    <p:embeddedFont>
      <p:font typeface="Urbanist"/>
      <p:regular r:id="rId28"/>
      <p:bold r:id="rId29"/>
      <p:italic r:id="rId30"/>
      <p:boldItalic r:id="rId31"/>
    </p:embeddedFont>
    <p:embeddedFont>
      <p:font typeface="Merriweather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UrbanistMedium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Medium-italic.fntdata"/><Relationship Id="rId25" Type="http://schemas.openxmlformats.org/officeDocument/2006/relationships/font" Target="fonts/UrbanistMedium-bold.fntdata"/><Relationship Id="rId28" Type="http://schemas.openxmlformats.org/officeDocument/2006/relationships/font" Target="fonts/Urbanist-regular.fntdata"/><Relationship Id="rId27" Type="http://schemas.openxmlformats.org/officeDocument/2006/relationships/font" Target="fonts/Urbanist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Urbanis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Urbanist-boldItalic.fntdata"/><Relationship Id="rId30" Type="http://schemas.openxmlformats.org/officeDocument/2006/relationships/font" Target="fonts/Urbanist-italic.fntdata"/><Relationship Id="rId11" Type="http://schemas.openxmlformats.org/officeDocument/2006/relationships/slide" Target="slides/slide6.xml"/><Relationship Id="rId33" Type="http://schemas.openxmlformats.org/officeDocument/2006/relationships/font" Target="fonts/Merriweather-bold.fntdata"/><Relationship Id="rId10" Type="http://schemas.openxmlformats.org/officeDocument/2006/relationships/slide" Target="slides/slide5.xml"/><Relationship Id="rId32" Type="http://schemas.openxmlformats.org/officeDocument/2006/relationships/font" Target="fonts/Merriweather-regular.fntdata"/><Relationship Id="rId13" Type="http://schemas.openxmlformats.org/officeDocument/2006/relationships/slide" Target="slides/slide8.xml"/><Relationship Id="rId35" Type="http://schemas.openxmlformats.org/officeDocument/2006/relationships/font" Target="fonts/Merriweather-boldItalic.fntdata"/><Relationship Id="rId12" Type="http://schemas.openxmlformats.org/officeDocument/2006/relationships/slide" Target="slides/slide7.xml"/><Relationship Id="rId34" Type="http://schemas.openxmlformats.org/officeDocument/2006/relationships/font" Target="fonts/Merriweather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19914d717_0_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19914d717_0_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19914d717_0_10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19914d717_0_10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19914d717_0_1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919914d717_0_1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19914d717_0_1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919914d717_0_1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19914d717_0_1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19914d717_0_1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19914d717_0_1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19914d717_0_1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19914d717_0_1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19914d717_0_1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19914d717_0_1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919914d717_0_1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19914d717_0_1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919914d717_0_1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19914d717_0_1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19914d717_0_1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19914d717_0_1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919914d717_0_1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19914d717_0_1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919914d717_0_1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19914d717_0_1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919914d717_0_1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19914d717_0_1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919914d717_0_1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3"/>
          <p:cNvPicPr preferRelativeResize="0"/>
          <p:nvPr/>
        </p:nvPicPr>
        <p:blipFill rotWithShape="1">
          <a:blip r:embed="rId2">
            <a:alphaModFix amt="50000"/>
          </a:blip>
          <a:srcRect b="8145" l="3133" r="7834" t="16785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5" name="Google Shape;65;p1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6" name="Google Shape;66;p1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7" name="Google Shape;67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" name="Google Shape;69;p13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70" name="Google Shape;70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13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3" name="Google Shape;73;p13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4" name="Google Shape;74;p13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79" name="Google Shape;79;p14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80" name="Google Shape;80;p14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81" name="Google Shape;81;p14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82" name="Google Shape;82;p14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" name="Google Shape;83;p14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84" name="Google Shape;84;p14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85" name="Google Shape;85;p14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" name="Google Shape;86;p14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" name="Google Shape;87;p14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88" name="Google Shape;88;p14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89" name="Google Shape;89;p14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0" name="Google Shape;90;p14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1" name="Google Shape;91;p14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92" name="Google Shape;92;p14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93" name="Google Shape;93;p14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4" name="Google Shape;94;p14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5" name="Google Shape;95;p14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96" name="Google Shape;96;p14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97" name="Google Shape;97;p14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8" name="Google Shape;98;p14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9" name="Google Shape;99;p14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00" name="Google Shape;100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" name="Google Shape;101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27.png"/><Relationship Id="rId5" Type="http://schemas.openxmlformats.org/officeDocument/2006/relationships/image" Target="../media/image11.png"/><Relationship Id="rId6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14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3.png"/><Relationship Id="rId5" Type="http://schemas.openxmlformats.org/officeDocument/2006/relationships/image" Target="../media/image16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3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Relationship Id="rId6" Type="http://schemas.openxmlformats.org/officeDocument/2006/relationships/image" Target="../media/image28.jpg"/><Relationship Id="rId7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2T_h27g4zy82rfRV6onhFQ6GO3mHIaP-/view" TargetMode="External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hyperlink" Target="https://github.com/Deepesh-Katudia/CS-696F---Software-Testing---Team-3" TargetMode="External"/><Relationship Id="rId5" Type="http://schemas.openxmlformats.org/officeDocument/2006/relationships/image" Target="../media/image29.png"/><Relationship Id="rId6" Type="http://schemas.openxmlformats.org/officeDocument/2006/relationships/image" Target="../media/image3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Relationship Id="rId4" Type="http://schemas.openxmlformats.org/officeDocument/2006/relationships/image" Target="../media/image30.png"/><Relationship Id="rId5" Type="http://schemas.openxmlformats.org/officeDocument/2006/relationships/image" Target="../media/image33.png"/><Relationship Id="rId6" Type="http://schemas.openxmlformats.org/officeDocument/2006/relationships/image" Target="../media/image3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XERO Application (Team 3)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8" name="Google Shape;108;p15"/>
          <p:cNvSpPr txBox="1"/>
          <p:nvPr>
            <p:ph idx="1" type="subTitle"/>
          </p:nvPr>
        </p:nvSpPr>
        <p:spPr>
          <a:xfrm>
            <a:off x="279750" y="1772400"/>
            <a:ext cx="4402800" cy="1598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Team 3 (Fall 2025):</a:t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rbanist Medium"/>
              <a:buChar char="❏"/>
            </a:pPr>
            <a:r>
              <a:rPr lang="en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Deepesh Katudia (QA Manager)</a:t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rbanist Medium"/>
              <a:buChar char="❏"/>
            </a:pPr>
            <a:r>
              <a:rPr lang="en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Ayush Gehlot (QA Analyst)</a:t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rbanist Medium"/>
              <a:buChar char="❏"/>
            </a:pPr>
            <a:r>
              <a:rPr lang="en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Parth Desai (</a:t>
            </a:r>
            <a:r>
              <a:rPr lang="en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Business</a:t>
            </a:r>
            <a:r>
              <a:rPr lang="en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Analyst)</a:t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rbanist Medium"/>
              <a:buChar char="❏"/>
            </a:pPr>
            <a:r>
              <a:rPr lang="en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Kiran Rathod (Software Tester)</a:t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rbanist Medium"/>
              <a:buChar char="❏"/>
            </a:pPr>
            <a:r>
              <a:rPr lang="en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Swatej Mella (Software Tester/Tableau Lead)</a:t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/>
        </p:nvSpPr>
        <p:spPr>
          <a:xfrm>
            <a:off x="613800" y="214550"/>
            <a:ext cx="7740000" cy="8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Functional Decomposition Diagram (Swatej Mella)</a:t>
            </a:r>
            <a:endParaRPr b="1" sz="23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14" name="Google Shape;11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8800" y="817250"/>
            <a:ext cx="6869992" cy="3786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/>
        </p:nvSpPr>
        <p:spPr>
          <a:xfrm>
            <a:off x="613800" y="214550"/>
            <a:ext cx="7740000" cy="8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Requirements Composition Table </a:t>
            </a:r>
            <a:r>
              <a:rPr b="1" lang="en" sz="23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(Kiran Rathod)</a:t>
            </a:r>
            <a:endParaRPr b="1" sz="23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20" name="Google Shape;12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813" y="843400"/>
            <a:ext cx="7668373" cy="378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/>
        </p:nvSpPr>
        <p:spPr>
          <a:xfrm>
            <a:off x="613800" y="214550"/>
            <a:ext cx="7740000" cy="8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Testing RoadMap </a:t>
            </a:r>
            <a:r>
              <a:rPr b="1" lang="en" sz="23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(Kiran Rathod)</a:t>
            </a:r>
            <a:endParaRPr b="1" sz="23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26" name="Google Shape;12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78050"/>
            <a:ext cx="8839198" cy="3578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/>
        </p:nvSpPr>
        <p:spPr>
          <a:xfrm>
            <a:off x="613800" y="214550"/>
            <a:ext cx="7740000" cy="8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Test Plan </a:t>
            </a:r>
            <a:r>
              <a:rPr b="1" lang="en" sz="23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(Ayush Gehlot)</a:t>
            </a:r>
            <a:endParaRPr b="1" sz="23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800" y="1124750"/>
            <a:ext cx="4297901" cy="309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/>
          <p:cNvPicPr preferRelativeResize="0"/>
          <p:nvPr/>
        </p:nvPicPr>
        <p:blipFill rotWithShape="1">
          <a:blip r:embed="rId4">
            <a:alphaModFix/>
          </a:blip>
          <a:srcRect b="-4536" l="0" r="-999" t="0"/>
          <a:stretch/>
        </p:blipFill>
        <p:spPr>
          <a:xfrm>
            <a:off x="5079888" y="1051850"/>
            <a:ext cx="2465625" cy="19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85625" y="2986350"/>
            <a:ext cx="2654150" cy="1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9"/>
          <p:cNvPicPr preferRelativeResize="0"/>
          <p:nvPr/>
        </p:nvPicPr>
        <p:blipFill rotWithShape="1">
          <a:blip r:embed="rId6">
            <a:alphaModFix/>
          </a:blip>
          <a:srcRect b="0" l="0" r="0" t="3474"/>
          <a:stretch/>
        </p:blipFill>
        <p:spPr>
          <a:xfrm>
            <a:off x="7422775" y="1552250"/>
            <a:ext cx="1476900" cy="76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/>
        </p:nvSpPr>
        <p:spPr>
          <a:xfrm>
            <a:off x="613800" y="214550"/>
            <a:ext cx="7740000" cy="8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Test Plan (Ayush Gehlot)</a:t>
            </a:r>
            <a:endParaRPr b="1" sz="23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41" name="Google Shape;14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500" y="867875"/>
            <a:ext cx="2307799" cy="142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026" y="2243975"/>
            <a:ext cx="2404576" cy="1640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29300" y="978475"/>
            <a:ext cx="2110691" cy="164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98276" y="2618725"/>
            <a:ext cx="2172750" cy="12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13325" y="952000"/>
            <a:ext cx="1961950" cy="147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13325" y="2400600"/>
            <a:ext cx="1961950" cy="1646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875267" y="901875"/>
            <a:ext cx="2282550" cy="135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948600" y="2295275"/>
            <a:ext cx="1963925" cy="209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/>
          <p:nvPr/>
        </p:nvSpPr>
        <p:spPr>
          <a:xfrm>
            <a:off x="613800" y="214550"/>
            <a:ext cx="7740000" cy="8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Test Design Specification (Deepesh Katudia)</a:t>
            </a:r>
            <a:endParaRPr b="1" sz="23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54" name="Google Shape;15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350" y="941300"/>
            <a:ext cx="4156687" cy="351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2701" y="1124750"/>
            <a:ext cx="4230274" cy="266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/>
        </p:nvSpPr>
        <p:spPr>
          <a:xfrm>
            <a:off x="613800" y="214550"/>
            <a:ext cx="7740000" cy="8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Test Case Specification (Deepesh Katudia)</a:t>
            </a:r>
            <a:endParaRPr b="1" sz="23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61" name="Google Shape;16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850" y="880100"/>
            <a:ext cx="4768151" cy="364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2275" y="1174975"/>
            <a:ext cx="3222350" cy="152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/>
          <p:nvPr/>
        </p:nvSpPr>
        <p:spPr>
          <a:xfrm>
            <a:off x="613800" y="214550"/>
            <a:ext cx="7740000" cy="8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Test Summary Report </a:t>
            </a:r>
            <a:r>
              <a:rPr b="1" lang="en" sz="23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(Parth Desai)</a:t>
            </a:r>
            <a:endParaRPr b="1" sz="23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68" name="Google Shape;16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425" y="776150"/>
            <a:ext cx="4860825" cy="378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8325" y="1051850"/>
            <a:ext cx="3770950" cy="3407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/>
        </p:nvSpPr>
        <p:spPr>
          <a:xfrm>
            <a:off x="613800" y="214550"/>
            <a:ext cx="7740000" cy="8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Test Summary Report (Parth Desai)</a:t>
            </a:r>
            <a:endParaRPr b="1" sz="23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75" name="Google Shape;17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125" y="977950"/>
            <a:ext cx="1781225" cy="78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125" y="1912225"/>
            <a:ext cx="2954450" cy="234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4375" y="1051850"/>
            <a:ext cx="1713975" cy="60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18175" y="1764600"/>
            <a:ext cx="3382675" cy="201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36024" y="1070613"/>
            <a:ext cx="3122261" cy="60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4"/>
          <p:cNvSpPr txBox="1"/>
          <p:nvPr/>
        </p:nvSpPr>
        <p:spPr>
          <a:xfrm>
            <a:off x="7150500" y="1830475"/>
            <a:ext cx="1781100" cy="25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Types of testing performed</a:t>
            </a:r>
            <a:endParaRPr b="1" i="1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07916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latin typeface="Merriweather"/>
                <a:ea typeface="Merriweather"/>
                <a:cs typeface="Merriweather"/>
                <a:sym typeface="Merriweather"/>
              </a:rPr>
              <a:t>1. Functional Testing</a:t>
            </a:r>
            <a:endParaRPr b="1" sz="11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07916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latin typeface="Merriweather"/>
                <a:ea typeface="Merriweather"/>
                <a:cs typeface="Merriweather"/>
                <a:sym typeface="Merriweather"/>
              </a:rPr>
              <a:t>2. Integration Testing</a:t>
            </a:r>
            <a:endParaRPr b="1" sz="11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07916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latin typeface="Merriweather"/>
                <a:ea typeface="Merriweather"/>
                <a:cs typeface="Merriweather"/>
                <a:sym typeface="Merriweather"/>
              </a:rPr>
              <a:t>3. Regression Testing</a:t>
            </a:r>
            <a:endParaRPr b="1" sz="11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07916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latin typeface="Merriweather"/>
                <a:ea typeface="Merriweather"/>
                <a:cs typeface="Merriweather"/>
                <a:sym typeface="Merriweather"/>
              </a:rPr>
              <a:t>4. Usability Testing</a:t>
            </a:r>
            <a:endParaRPr b="1" sz="11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100">
                <a:latin typeface="Merriweather"/>
                <a:ea typeface="Merriweather"/>
                <a:cs typeface="Merriweather"/>
                <a:sym typeface="Merriweather"/>
              </a:rPr>
              <a:t>5. Validation Testing</a:t>
            </a:r>
            <a:endParaRPr b="1" i="1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"/>
          <p:cNvSpPr txBox="1"/>
          <p:nvPr/>
        </p:nvSpPr>
        <p:spPr>
          <a:xfrm>
            <a:off x="613800" y="214550"/>
            <a:ext cx="7740000" cy="8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Application Recorded Demo </a:t>
            </a:r>
            <a:r>
              <a:rPr b="1" lang="en" sz="23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(Parth Desai)</a:t>
            </a:r>
            <a:endParaRPr b="1" sz="23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86" name="Google Shape;186;p25" title="Recorded_Demo_XERO_Team-3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925" y="910700"/>
            <a:ext cx="8299325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 txBox="1"/>
          <p:nvPr/>
        </p:nvSpPr>
        <p:spPr>
          <a:xfrm>
            <a:off x="613800" y="214550"/>
            <a:ext cx="7740000" cy="8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Github Repo Link </a:t>
            </a:r>
            <a:r>
              <a:rPr b="1" lang="en" sz="23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(Deepesh Katudia)</a:t>
            </a:r>
            <a:endParaRPr b="1" sz="23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800" y="1094150"/>
            <a:ext cx="753250" cy="42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 txBox="1"/>
          <p:nvPr/>
        </p:nvSpPr>
        <p:spPr>
          <a:xfrm>
            <a:off x="1367050" y="1143100"/>
            <a:ext cx="56694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https://github.com/Deepesh-Katudia/CS-696F---Software-Testing---Team-3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26"/>
          <p:cNvSpPr txBox="1"/>
          <p:nvPr/>
        </p:nvSpPr>
        <p:spPr>
          <a:xfrm>
            <a:off x="613800" y="1842725"/>
            <a:ext cx="2911200" cy="4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Folder Structure : </a:t>
            </a:r>
            <a:endParaRPr sz="13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95" name="Google Shape;19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5050" y="2235775"/>
            <a:ext cx="2151625" cy="2216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99075" y="1809150"/>
            <a:ext cx="5479884" cy="257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 txBox="1"/>
          <p:nvPr/>
        </p:nvSpPr>
        <p:spPr>
          <a:xfrm>
            <a:off x="613800" y="214550"/>
            <a:ext cx="7740000" cy="8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Github Folder Structure (Deepesh Katudia)</a:t>
            </a:r>
            <a:endParaRPr b="1" sz="23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02" name="Google Shape;20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700" y="899900"/>
            <a:ext cx="2349999" cy="156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700" y="2730775"/>
            <a:ext cx="2350000" cy="965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6100" y="899888"/>
            <a:ext cx="2205350" cy="74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16252" y="899900"/>
            <a:ext cx="2471301" cy="319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/>
          <p:nvPr>
            <p:ph type="title"/>
          </p:nvPr>
        </p:nvSpPr>
        <p:spPr>
          <a:xfrm>
            <a:off x="2615125" y="1862250"/>
            <a:ext cx="4340700" cy="8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</a:rPr>
              <a:t>Thank You</a:t>
            </a:r>
            <a:endParaRPr sz="6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